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37" r:id="rId3"/>
    <p:sldId id="294" r:id="rId4"/>
    <p:sldId id="295" r:id="rId5"/>
    <p:sldId id="296" r:id="rId6"/>
    <p:sldId id="305" r:id="rId7"/>
    <p:sldId id="308" r:id="rId8"/>
    <p:sldId id="311" r:id="rId9"/>
    <p:sldId id="312" r:id="rId10"/>
    <p:sldId id="313" r:id="rId11"/>
    <p:sldId id="338" r:id="rId12"/>
    <p:sldId id="315" r:id="rId13"/>
    <p:sldId id="319" r:id="rId14"/>
    <p:sldId id="321" r:id="rId15"/>
    <p:sldId id="324" r:id="rId16"/>
    <p:sldId id="326" r:id="rId17"/>
    <p:sldId id="307" r:id="rId18"/>
    <p:sldId id="256" r:id="rId19"/>
    <p:sldId id="271" r:id="rId20"/>
    <p:sldId id="257" r:id="rId21"/>
    <p:sldId id="272" r:id="rId22"/>
    <p:sldId id="273" r:id="rId23"/>
    <p:sldId id="274" r:id="rId24"/>
    <p:sldId id="276" r:id="rId25"/>
    <p:sldId id="275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9" r:id="rId34"/>
    <p:sldId id="290" r:id="rId35"/>
    <p:sldId id="339" r:id="rId36"/>
    <p:sldId id="340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</p:sldIdLst>
  <p:sldSz cx="12192000" cy="6858000"/>
  <p:notesSz cx="7010400" cy="92964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4112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pos="74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6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254" y="108"/>
      </p:cViewPr>
      <p:guideLst>
        <p:guide orient="horz" pos="2183"/>
        <p:guide pos="4112"/>
        <p:guide pos="257"/>
        <p:guide pos="74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95E7F0-21C4-79D3-1872-745FE8D8E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779827F-B76C-E8A2-69A1-6786EE496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1C068B7-7762-BF22-FDCD-2B3A1BC3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220C684-0642-177A-BDF8-A0ED8AE0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631F5B6-E156-A105-4C52-AAE55094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714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BA8186-D15A-DB07-8F2D-E655E0A2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A8DD57-08D9-FB51-1F94-704891EAA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49E9C2C-E7B5-CE18-571F-3CCEA53B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9EA9A1-7F34-E0F8-6557-8515F380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C69EE0B-AF6F-4BDE-021D-E0D23A80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467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E716C9-9418-8B39-7347-AF1B2005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C4F64EF-0274-8918-FDE6-B636492C0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5DBB26F-1ED8-0D10-8568-9BE88BB8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C3B18A-2A98-EE69-6FDA-04D9E088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A0DE365-F5FC-BABC-F7B6-3DD01B79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493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4C264C-0BC0-79AF-868B-51460333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FCFE46-4720-AA73-6BE1-822BC7851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47DB21F-EE8A-5CA7-CC0A-06DED7EF2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10A969-D390-EC71-DF30-E36DCC05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8479581-385F-D698-D4E6-9B3332F8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85BC6B2-68B5-5052-40A9-714EAA54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060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04DCCE-D501-C4BB-C185-11966094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92056FE-C917-0C98-8014-728BB8280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802756B-85E1-FE51-3760-C497B2BEA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C55FF13-2448-15A3-6081-E46A0994F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8B79B8D-F0B8-06F4-4A97-A6CEF4726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1951395-A8AE-8F04-2F11-F79C2326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BA65BFE-BA72-8A8E-2A57-316F5C29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D9A33EA-6139-ED76-6332-3AAAA039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325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CD80EC-831D-257A-9E72-37F531F2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EF62DB0-337C-11F3-32C7-AD156D12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9A65099-D7AD-8916-B02C-CE4F357E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4236CAF-36D0-8373-9668-82A37113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903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4FC00C5-793F-CB94-1EEE-B6D680E3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B539821-9DBE-E98B-F372-6CE2F863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1F0C2F3-A5CE-7E18-4D81-904DEE8A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071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ED0391-2E0E-B678-9754-0B65CBC5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776B36-4D1C-8FFC-46D5-41157B456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5AE3057-4EE6-D3D5-BEC0-14A580F02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3F0209F-DD60-332D-9BC6-B5D0258B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C5609E0-3C2D-9918-7259-30B907B8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110C042-BFFB-B879-A829-A8D6F10E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379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866C64-3325-A826-08AC-F1AC81FA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78AF200-B81C-B762-5EB1-5C239A84A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BD225AB-7C94-DAE6-C601-3DD1A2E89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F0DF8C0-B827-409C-1660-0107BC3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3C1EAD-53E4-44D2-C8CE-8AF8F7E3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4346375-E77B-A5D8-81A7-C71430AC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002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3A47B0-9A77-43F3-06E1-92D72EBA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69E38BF-8342-0891-397B-4CCAEE7C9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95DE48-4CB8-934D-8F7C-E2076D82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D65D66E-734D-E56B-1A26-45908688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8137077-F02A-5939-50E3-6B3018CE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453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D6C5117-6F35-1733-0732-752259D47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562D9EC-C679-ADEA-43E4-E609983D5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BAE4C44-A9BD-1033-A75E-07E815B1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F70665B-626A-A52F-9A30-5CE82EB0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0AFC67B-B0D5-F5BC-F5DF-F6B842CB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522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11831BE-DAA3-53DA-53B5-B53A36A7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25BCA91-8833-E3D8-D163-815A92951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19CA27-B215-12F1-C76E-70EBB9882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34BC1-8AE4-440F-BD7A-B7237C3EC9A1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230D76C-94C9-DABB-471E-01701A1D7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1012AA-93A5-E50D-E000-3073D16C8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2BB50-60A8-4F1B-AF71-9D2045475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224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D:\bioinformatics\github\thirdRunAug2025\multiQC_current\multiQC\multiQC_unTrimmed\multiQC_unTrimmed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D:\bioinformatics\github\thirdRunAug2025\multiQC_current\multiQC\multiQC_deduplication\multiQC_deduplication.html" TargetMode="External"/><Relationship Id="rId5" Type="http://schemas.openxmlformats.org/officeDocument/2006/relationships/hyperlink" Target="file:///D:\bioinformatics\github\thirdRunAug2025\multiQC_current\multiQC\multiQC_alignments\multiQC_aligments.html" TargetMode="External"/><Relationship Id="rId4" Type="http://schemas.openxmlformats.org/officeDocument/2006/relationships/hyperlink" Target="file:///D:\bioinformatics\github\thirdRunAug2025\multiQC_current\multiQC\multiQC_trimmed\multiQC_trimmed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rpubs.com/MichalGdula/DNAfastqBigWig_4run_v1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0D6B-C7C1-DBAD-B93D-967E8917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789C98A-BB3F-54F7-9B11-A0E111FD34D8}"/>
              </a:ext>
            </a:extLst>
          </p:cNvPr>
          <p:cNvSpPr txBox="1"/>
          <p:nvPr/>
        </p:nvSpPr>
        <p:spPr>
          <a:xfrm>
            <a:off x="1" y="257175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Mapping PE (paired-end ) “regular” DNA fragments from </a:t>
            </a:r>
            <a:r>
              <a:rPr lang="en-GB" sz="2200" b="1" dirty="0" err="1"/>
              <a:t>NovaSeqX</a:t>
            </a:r>
            <a:r>
              <a:rPr lang="en-GB" sz="2200" b="1" dirty="0"/>
              <a:t> Plus</a:t>
            </a:r>
            <a:endParaRPr lang="en-GB" sz="1000" b="1" dirty="0"/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30A7A865-C4F3-8745-D9A9-1B361FEB02A4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80DAC61-709C-3595-265C-92246B70882B}"/>
              </a:ext>
            </a:extLst>
          </p:cNvPr>
          <p:cNvSpPr txBox="1"/>
          <p:nvPr/>
        </p:nvSpPr>
        <p:spPr>
          <a:xfrm>
            <a:off x="2066924" y="3234680"/>
            <a:ext cx="8658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fastq2tracks </a:t>
            </a:r>
            <a:r>
              <a:rPr lang="pl-PL" sz="3200" b="1" dirty="0" err="1"/>
              <a:t>workflow</a:t>
            </a:r>
            <a:endParaRPr lang="pl-PL" sz="3200" b="1" dirty="0"/>
          </a:p>
        </p:txBody>
      </p:sp>
    </p:spTree>
    <p:extLst>
      <p:ext uri="{BB962C8B-B14F-4D97-AF65-F5344CB8AC3E}">
        <p14:creationId xmlns:p14="http://schemas.microsoft.com/office/powerpoint/2010/main" val="137262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C6D5C-9AD2-D51F-0BB4-48CDA470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a 26">
            <a:extLst>
              <a:ext uri="{FF2B5EF4-FFF2-40B4-BE49-F238E27FC236}">
                <a16:creationId xmlns:a16="http://schemas.microsoft.com/office/drawing/2014/main" id="{333D7996-A46C-6C06-ED1B-E8FCFB1D3CB8}"/>
              </a:ext>
            </a:extLst>
          </p:cNvPr>
          <p:cNvGrpSpPr/>
          <p:nvPr/>
        </p:nvGrpSpPr>
        <p:grpSpPr>
          <a:xfrm>
            <a:off x="996805" y="1083809"/>
            <a:ext cx="4946379" cy="5242832"/>
            <a:chOff x="5261108" y="1013340"/>
            <a:chExt cx="4946379" cy="5242832"/>
          </a:xfrm>
        </p:grpSpPr>
        <p:grpSp>
          <p:nvGrpSpPr>
            <p:cNvPr id="21" name="Grupa 20">
              <a:extLst>
                <a:ext uri="{FF2B5EF4-FFF2-40B4-BE49-F238E27FC236}">
                  <a16:creationId xmlns:a16="http://schemas.microsoft.com/office/drawing/2014/main" id="{84116E45-3E6A-0473-CDC9-C83B164B482C}"/>
                </a:ext>
              </a:extLst>
            </p:cNvPr>
            <p:cNvGrpSpPr/>
            <p:nvPr/>
          </p:nvGrpSpPr>
          <p:grpSpPr>
            <a:xfrm>
              <a:off x="5261108" y="1013340"/>
              <a:ext cx="4240703" cy="5242832"/>
              <a:chOff x="6652587" y="1013340"/>
              <a:chExt cx="4240703" cy="5242832"/>
            </a:xfrm>
          </p:grpSpPr>
          <p:sp>
            <p:nvSpPr>
              <p:cNvPr id="7" name="Prostokąt 6">
                <a:extLst>
                  <a:ext uri="{FF2B5EF4-FFF2-40B4-BE49-F238E27FC236}">
                    <a16:creationId xmlns:a16="http://schemas.microsoft.com/office/drawing/2014/main" id="{6FB7E016-EAB1-95D6-0AA5-3B423EA43DA3}"/>
                  </a:ext>
                </a:extLst>
              </p:cNvPr>
              <p:cNvSpPr/>
              <p:nvPr/>
            </p:nvSpPr>
            <p:spPr>
              <a:xfrm>
                <a:off x="7982777" y="1013340"/>
                <a:ext cx="154056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Reads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FASTQ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8" name="Prostokąt 7">
                <a:extLst>
                  <a:ext uri="{FF2B5EF4-FFF2-40B4-BE49-F238E27FC236}">
                    <a16:creationId xmlns:a16="http://schemas.microsoft.com/office/drawing/2014/main" id="{D6C435EE-02A7-7472-7517-1C6E2B3FB454}"/>
                  </a:ext>
                </a:extLst>
              </p:cNvPr>
              <p:cNvSpPr/>
              <p:nvPr/>
            </p:nvSpPr>
            <p:spPr>
              <a:xfrm>
                <a:off x="7828719" y="1825590"/>
                <a:ext cx="18486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Trimmed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FASTQ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AB410A86-89E3-EA38-14AD-35C27FEE9536}"/>
                  </a:ext>
                </a:extLst>
              </p:cNvPr>
              <p:cNvSpPr/>
              <p:nvPr/>
            </p:nvSpPr>
            <p:spPr>
              <a:xfrm>
                <a:off x="7391400" y="2637840"/>
                <a:ext cx="276307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Alignments </a:t>
                </a:r>
                <a:r>
                  <a:rPr lang="en-GB" b="1" i="1" dirty="0">
                    <a:solidFill>
                      <a:schemeClr val="tx1"/>
                    </a:solidFill>
                  </a:rPr>
                  <a:t>BAM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Prostokąt 9">
                <a:extLst>
                  <a:ext uri="{FF2B5EF4-FFF2-40B4-BE49-F238E27FC236}">
                    <a16:creationId xmlns:a16="http://schemas.microsoft.com/office/drawing/2014/main" id="{F0FA04FE-01CC-DBB1-EBCC-649FACC2368F}"/>
                  </a:ext>
                </a:extLst>
              </p:cNvPr>
              <p:cNvSpPr/>
              <p:nvPr/>
            </p:nvSpPr>
            <p:spPr>
              <a:xfrm>
                <a:off x="7502387" y="3450090"/>
                <a:ext cx="25411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Deduplicated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BAM</a:t>
                </a:r>
              </a:p>
            </p:txBody>
          </p:sp>
          <p:sp>
            <p:nvSpPr>
              <p:cNvPr id="11" name="Prostokąt 10">
                <a:extLst>
                  <a:ext uri="{FF2B5EF4-FFF2-40B4-BE49-F238E27FC236}">
                    <a16:creationId xmlns:a16="http://schemas.microsoft.com/office/drawing/2014/main" id="{FA88F0EC-CCFC-DE29-8109-F9CC576E10DC}"/>
                  </a:ext>
                </a:extLst>
              </p:cNvPr>
              <p:cNvSpPr/>
              <p:nvPr/>
            </p:nvSpPr>
            <p:spPr>
              <a:xfrm>
                <a:off x="7174392" y="4262340"/>
                <a:ext cx="3177211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Coverage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Prostokąt 11">
                <a:extLst>
                  <a:ext uri="{FF2B5EF4-FFF2-40B4-BE49-F238E27FC236}">
                    <a16:creationId xmlns:a16="http://schemas.microsoft.com/office/drawing/2014/main" id="{496F5E3E-0C04-2296-ED8D-9D31F818A261}"/>
                  </a:ext>
                </a:extLst>
              </p:cNvPr>
              <p:cNvSpPr/>
              <p:nvPr/>
            </p:nvSpPr>
            <p:spPr>
              <a:xfrm>
                <a:off x="6652587" y="507459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Read-depth normalised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Prostokąt 12">
                <a:extLst>
                  <a:ext uri="{FF2B5EF4-FFF2-40B4-BE49-F238E27FC236}">
                    <a16:creationId xmlns:a16="http://schemas.microsoft.com/office/drawing/2014/main" id="{C66068B4-CD38-8CAD-7EB3-07A28DEFBFA6}"/>
                  </a:ext>
                </a:extLst>
              </p:cNvPr>
              <p:cNvSpPr/>
              <p:nvPr/>
            </p:nvSpPr>
            <p:spPr>
              <a:xfrm>
                <a:off x="6672468" y="588684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Indexed Binary Coverage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BigWig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Strzałka: w dół 13">
                <a:extLst>
                  <a:ext uri="{FF2B5EF4-FFF2-40B4-BE49-F238E27FC236}">
                    <a16:creationId xmlns:a16="http://schemas.microsoft.com/office/drawing/2014/main" id="{C854F913-FF2A-3216-BD46-500F5F6C0D4B}"/>
                  </a:ext>
                </a:extLst>
              </p:cNvPr>
              <p:cNvSpPr/>
              <p:nvPr/>
            </p:nvSpPr>
            <p:spPr>
              <a:xfrm>
                <a:off x="8653667" y="1487373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5" name="Strzałka: w dół 14">
                <a:extLst>
                  <a:ext uri="{FF2B5EF4-FFF2-40B4-BE49-F238E27FC236}">
                    <a16:creationId xmlns:a16="http://schemas.microsoft.com/office/drawing/2014/main" id="{A16AF659-038B-4EEE-83FC-8A988E1E7679}"/>
                  </a:ext>
                </a:extLst>
              </p:cNvPr>
              <p:cNvSpPr/>
              <p:nvPr/>
            </p:nvSpPr>
            <p:spPr>
              <a:xfrm>
                <a:off x="8627165" y="2305694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6" name="Strzałka: w dół 15">
                <a:extLst>
                  <a:ext uri="{FF2B5EF4-FFF2-40B4-BE49-F238E27FC236}">
                    <a16:creationId xmlns:a16="http://schemas.microsoft.com/office/drawing/2014/main" id="{883C6245-0C0C-1000-765F-1D4877FB526A}"/>
                  </a:ext>
                </a:extLst>
              </p:cNvPr>
              <p:cNvSpPr/>
              <p:nvPr/>
            </p:nvSpPr>
            <p:spPr>
              <a:xfrm>
                <a:off x="8650358" y="3133955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7" name="Strzałka: w dół 16">
                <a:extLst>
                  <a:ext uri="{FF2B5EF4-FFF2-40B4-BE49-F238E27FC236}">
                    <a16:creationId xmlns:a16="http://schemas.microsoft.com/office/drawing/2014/main" id="{79CA810D-2AE4-30DF-0B9E-7667521B4703}"/>
                  </a:ext>
                </a:extLst>
              </p:cNvPr>
              <p:cNvSpPr/>
              <p:nvPr/>
            </p:nvSpPr>
            <p:spPr>
              <a:xfrm>
                <a:off x="8650358" y="3929088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8" name="Strzałka: w dół 17">
                <a:extLst>
                  <a:ext uri="{FF2B5EF4-FFF2-40B4-BE49-F238E27FC236}">
                    <a16:creationId xmlns:a16="http://schemas.microsoft.com/office/drawing/2014/main" id="{F14C0562-DC55-8CD2-E459-59BCFAA16B29}"/>
                  </a:ext>
                </a:extLst>
              </p:cNvPr>
              <p:cNvSpPr/>
              <p:nvPr/>
            </p:nvSpPr>
            <p:spPr>
              <a:xfrm>
                <a:off x="8650358" y="4754029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9" name="Strzałka: w dół 18">
                <a:extLst>
                  <a:ext uri="{FF2B5EF4-FFF2-40B4-BE49-F238E27FC236}">
                    <a16:creationId xmlns:a16="http://schemas.microsoft.com/office/drawing/2014/main" id="{952ACC83-56AD-4002-588B-949DB4A32D61}"/>
                  </a:ext>
                </a:extLst>
              </p:cNvPr>
              <p:cNvSpPr/>
              <p:nvPr/>
            </p:nvSpPr>
            <p:spPr>
              <a:xfrm>
                <a:off x="8650358" y="5539221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DC7414D4-CF59-9264-2E51-0DE21364D889}"/>
                </a:ext>
              </a:extLst>
            </p:cNvPr>
            <p:cNvSpPr txBox="1"/>
            <p:nvPr/>
          </p:nvSpPr>
          <p:spPr>
            <a:xfrm>
              <a:off x="7485094" y="1420722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TrimmGalore</a:t>
              </a:r>
              <a:endParaRPr lang="pl-PL" sz="1600" i="1" dirty="0"/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284A48BD-B298-EE7B-27D4-0E57ED568B49}"/>
                </a:ext>
              </a:extLst>
            </p:cNvPr>
            <p:cNvSpPr txBox="1"/>
            <p:nvPr/>
          </p:nvSpPr>
          <p:spPr>
            <a:xfrm>
              <a:off x="7485094" y="22471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Bowtie2</a:t>
              </a:r>
              <a:endParaRPr lang="pl-PL" sz="1600" i="1" dirty="0"/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812FA88A-2FED-AFBF-B499-97D73AFFFB05}"/>
                </a:ext>
              </a:extLst>
            </p:cNvPr>
            <p:cNvSpPr txBox="1"/>
            <p:nvPr/>
          </p:nvSpPr>
          <p:spPr>
            <a:xfrm>
              <a:off x="7516288" y="3066600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Picard</a:t>
              </a:r>
              <a:endParaRPr lang="pl-PL" sz="1600" i="1" dirty="0"/>
            </a:p>
          </p:txBody>
        </p: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E0228C8B-AA54-023A-AE2E-D1E1A1B76C35}"/>
                </a:ext>
              </a:extLst>
            </p:cNvPr>
            <p:cNvSpPr txBox="1"/>
            <p:nvPr/>
          </p:nvSpPr>
          <p:spPr>
            <a:xfrm>
              <a:off x="7502754" y="38607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5" name="pole tekstowe 24">
              <a:extLst>
                <a:ext uri="{FF2B5EF4-FFF2-40B4-BE49-F238E27FC236}">
                  <a16:creationId xmlns:a16="http://schemas.microsoft.com/office/drawing/2014/main" id="{F63E89C8-7497-AC87-FC09-69B6AFAA33E5}"/>
                </a:ext>
              </a:extLst>
            </p:cNvPr>
            <p:cNvSpPr txBox="1"/>
            <p:nvPr/>
          </p:nvSpPr>
          <p:spPr>
            <a:xfrm>
              <a:off x="7495033" y="4671428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782BB626-3A10-F62A-44A4-E267B2A2397E}"/>
                </a:ext>
              </a:extLst>
            </p:cNvPr>
            <p:cNvSpPr txBox="1"/>
            <p:nvPr/>
          </p:nvSpPr>
          <p:spPr>
            <a:xfrm>
              <a:off x="7499725" y="5482152"/>
              <a:ext cx="27077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Kentutills</a:t>
              </a:r>
              <a:r>
                <a:rPr lang="en-GB" sz="1600" i="1" dirty="0"/>
                <a:t>/ </a:t>
              </a:r>
              <a:r>
                <a:rPr lang="en-GB" sz="1600" i="1" dirty="0" err="1"/>
                <a:t>bedgraphToBigwig</a:t>
              </a:r>
              <a:endParaRPr lang="pl-PL" sz="1600" i="1" dirty="0"/>
            </a:p>
          </p:txBody>
        </p:sp>
      </p:grpSp>
      <p:grpSp>
        <p:nvGrpSpPr>
          <p:cNvPr id="52" name="Grupa 51">
            <a:extLst>
              <a:ext uri="{FF2B5EF4-FFF2-40B4-BE49-F238E27FC236}">
                <a16:creationId xmlns:a16="http://schemas.microsoft.com/office/drawing/2014/main" id="{AA99709D-F9C2-6565-DE59-9C70433752F1}"/>
              </a:ext>
            </a:extLst>
          </p:cNvPr>
          <p:cNvGrpSpPr/>
          <p:nvPr/>
        </p:nvGrpSpPr>
        <p:grpSpPr>
          <a:xfrm>
            <a:off x="4130943" y="950562"/>
            <a:ext cx="4829178" cy="2973905"/>
            <a:chOff x="4283759" y="674337"/>
            <a:chExt cx="4829178" cy="2973905"/>
          </a:xfrm>
        </p:grpSpPr>
        <p:sp>
          <p:nvSpPr>
            <p:cNvPr id="30" name="Prostokąt 29">
              <a:extLst>
                <a:ext uri="{FF2B5EF4-FFF2-40B4-BE49-F238E27FC236}">
                  <a16:creationId xmlns:a16="http://schemas.microsoft.com/office/drawing/2014/main" id="{ADCD2CAA-6B58-D935-0F7E-6F99F61B71CC}"/>
                </a:ext>
              </a:extLst>
            </p:cNvPr>
            <p:cNvSpPr/>
            <p:nvPr/>
          </p:nvSpPr>
          <p:spPr>
            <a:xfrm>
              <a:off x="7568646" y="807584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2" name="Prostokąt 31">
              <a:extLst>
                <a:ext uri="{FF2B5EF4-FFF2-40B4-BE49-F238E27FC236}">
                  <a16:creationId xmlns:a16="http://schemas.microsoft.com/office/drawing/2014/main" id="{EFF1C11D-154D-2448-BA7A-0E799E57CFB8}"/>
                </a:ext>
              </a:extLst>
            </p:cNvPr>
            <p:cNvSpPr/>
            <p:nvPr/>
          </p:nvSpPr>
          <p:spPr>
            <a:xfrm>
              <a:off x="7572375" y="1629242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3" name="Prostokąt 32">
              <a:extLst>
                <a:ext uri="{FF2B5EF4-FFF2-40B4-BE49-F238E27FC236}">
                  <a16:creationId xmlns:a16="http://schemas.microsoft.com/office/drawing/2014/main" id="{42F746A3-E8DC-E2FE-575F-E8C372B808EA}"/>
                </a:ext>
              </a:extLst>
            </p:cNvPr>
            <p:cNvSpPr/>
            <p:nvPr/>
          </p:nvSpPr>
          <p:spPr>
            <a:xfrm>
              <a:off x="7572375" y="2454537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BC3A4D2E-B453-E25C-9D05-915E20B33CE7}"/>
                </a:ext>
              </a:extLst>
            </p:cNvPr>
            <p:cNvSpPr/>
            <p:nvPr/>
          </p:nvSpPr>
          <p:spPr>
            <a:xfrm>
              <a:off x="7568646" y="3278910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Grupa 39">
              <a:extLst>
                <a:ext uri="{FF2B5EF4-FFF2-40B4-BE49-F238E27FC236}">
                  <a16:creationId xmlns:a16="http://schemas.microsoft.com/office/drawing/2014/main" id="{175172F4-0C20-DF43-23FF-DA06FE81B84E}"/>
                </a:ext>
              </a:extLst>
            </p:cNvPr>
            <p:cNvGrpSpPr/>
            <p:nvPr/>
          </p:nvGrpSpPr>
          <p:grpSpPr>
            <a:xfrm>
              <a:off x="4283759" y="674337"/>
              <a:ext cx="3140770" cy="338554"/>
              <a:chOff x="4174430" y="674337"/>
              <a:chExt cx="3140770" cy="338554"/>
            </a:xfrm>
          </p:grpSpPr>
          <p:cxnSp>
            <p:nvCxnSpPr>
              <p:cNvPr id="29" name="Łącznik prosty ze strzałką 28">
                <a:extLst>
                  <a:ext uri="{FF2B5EF4-FFF2-40B4-BE49-F238E27FC236}">
                    <a16:creationId xmlns:a16="http://schemas.microsoft.com/office/drawing/2014/main" id="{1104EBCA-40AA-CE4B-EEA7-724954036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4430" y="992250"/>
                <a:ext cx="3140770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pole tekstowe 38">
                <a:extLst>
                  <a:ext uri="{FF2B5EF4-FFF2-40B4-BE49-F238E27FC236}">
                    <a16:creationId xmlns:a16="http://schemas.microsoft.com/office/drawing/2014/main" id="{F49CF348-5995-1427-213C-7F1C56E397C5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1" name="Grupa 40">
              <a:extLst>
                <a:ext uri="{FF2B5EF4-FFF2-40B4-BE49-F238E27FC236}">
                  <a16:creationId xmlns:a16="http://schemas.microsoft.com/office/drawing/2014/main" id="{95E243EB-2782-B711-EFAF-E7E98DD49D7D}"/>
                </a:ext>
              </a:extLst>
            </p:cNvPr>
            <p:cNvGrpSpPr/>
            <p:nvPr/>
          </p:nvGrpSpPr>
          <p:grpSpPr>
            <a:xfrm>
              <a:off x="4432852" y="1500719"/>
              <a:ext cx="3010935" cy="338554"/>
              <a:chOff x="4304265" y="674337"/>
              <a:chExt cx="3010935" cy="338554"/>
            </a:xfrm>
          </p:grpSpPr>
          <p:cxnSp>
            <p:nvCxnSpPr>
              <p:cNvPr id="42" name="Łącznik prosty ze strzałką 41">
                <a:extLst>
                  <a:ext uri="{FF2B5EF4-FFF2-40B4-BE49-F238E27FC236}">
                    <a16:creationId xmlns:a16="http://schemas.microsoft.com/office/drawing/2014/main" id="{C62B43B4-AD2A-F48A-82C0-E91D98FC4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4265" y="978118"/>
                <a:ext cx="3010935" cy="1413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pole tekstowe 42">
                <a:extLst>
                  <a:ext uri="{FF2B5EF4-FFF2-40B4-BE49-F238E27FC236}">
                    <a16:creationId xmlns:a16="http://schemas.microsoft.com/office/drawing/2014/main" id="{A5E7A4F4-1151-CEFF-1750-A722209D1668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648A07E2-C430-13A7-495E-EF8D727FFA05}"/>
                </a:ext>
              </a:extLst>
            </p:cNvPr>
            <p:cNvGrpSpPr/>
            <p:nvPr/>
          </p:nvGrpSpPr>
          <p:grpSpPr>
            <a:xfrm>
              <a:off x="4879831" y="2388429"/>
              <a:ext cx="2535458" cy="338554"/>
              <a:chOff x="4779742" y="674337"/>
              <a:chExt cx="2535458" cy="338554"/>
            </a:xfrm>
          </p:grpSpPr>
          <p:cxnSp>
            <p:nvCxnSpPr>
              <p:cNvPr id="46" name="Łącznik prosty ze strzałką 45">
                <a:extLst>
                  <a:ext uri="{FF2B5EF4-FFF2-40B4-BE49-F238E27FC236}">
                    <a16:creationId xmlns:a16="http://schemas.microsoft.com/office/drawing/2014/main" id="{6B7302DA-46A8-C5BB-8EF5-7EE51DDD4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pole tekstowe 46">
                <a:extLst>
                  <a:ext uri="{FF2B5EF4-FFF2-40B4-BE49-F238E27FC236}">
                    <a16:creationId xmlns:a16="http://schemas.microsoft.com/office/drawing/2014/main" id="{1C35641C-3CB6-6A53-F4F8-665F87E08066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DD1D4D68-75C9-165C-E4B2-E4ACD66AA91C}"/>
                </a:ext>
              </a:extLst>
            </p:cNvPr>
            <p:cNvGrpSpPr/>
            <p:nvPr/>
          </p:nvGrpSpPr>
          <p:grpSpPr>
            <a:xfrm>
              <a:off x="4883146" y="3166992"/>
              <a:ext cx="2535458" cy="338554"/>
              <a:chOff x="4779742" y="674337"/>
              <a:chExt cx="2535458" cy="338554"/>
            </a:xfrm>
          </p:grpSpPr>
          <p:cxnSp>
            <p:nvCxnSpPr>
              <p:cNvPr id="50" name="Łącznik prosty ze strzałką 49">
                <a:extLst>
                  <a:ext uri="{FF2B5EF4-FFF2-40B4-BE49-F238E27FC236}">
                    <a16:creationId xmlns:a16="http://schemas.microsoft.com/office/drawing/2014/main" id="{146F2C01-2538-D175-000C-A3B9E53AD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pole tekstowe 50">
                <a:extLst>
                  <a:ext uri="{FF2B5EF4-FFF2-40B4-BE49-F238E27FC236}">
                    <a16:creationId xmlns:a16="http://schemas.microsoft.com/office/drawing/2014/main" id="{5F3C3836-F5A0-E305-0B5B-04AB05D0855D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64481526-0D33-800D-124B-75E10A3AAE2B}"/>
              </a:ext>
            </a:extLst>
          </p:cNvPr>
          <p:cNvGrpSpPr/>
          <p:nvPr/>
        </p:nvGrpSpPr>
        <p:grpSpPr>
          <a:xfrm>
            <a:off x="9341129" y="1031597"/>
            <a:ext cx="2427371" cy="5488472"/>
            <a:chOff x="8798204" y="755372"/>
            <a:chExt cx="2427371" cy="5488472"/>
          </a:xfrm>
        </p:grpSpPr>
        <p:sp>
          <p:nvSpPr>
            <p:cNvPr id="53" name="Nawias klamrowy zamykający 52">
              <a:extLst>
                <a:ext uri="{FF2B5EF4-FFF2-40B4-BE49-F238E27FC236}">
                  <a16:creationId xmlns:a16="http://schemas.microsoft.com/office/drawing/2014/main" id="{9CF0BD96-2F13-D5DB-464C-9D22D9A98D52}"/>
                </a:ext>
              </a:extLst>
            </p:cNvPr>
            <p:cNvSpPr/>
            <p:nvPr/>
          </p:nvSpPr>
          <p:spPr>
            <a:xfrm>
              <a:off x="8798204" y="755372"/>
              <a:ext cx="345798" cy="5488472"/>
            </a:xfrm>
            <a:prstGeom prst="rightBrace">
              <a:avLst>
                <a:gd name="adj1" fmla="val 8333"/>
                <a:gd name="adj2" fmla="val 50342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54" name="Prostokąt 53">
              <a:extLst>
                <a:ext uri="{FF2B5EF4-FFF2-40B4-BE49-F238E27FC236}">
                  <a16:creationId xmlns:a16="http://schemas.microsoft.com/office/drawing/2014/main" id="{3967A3DC-33F4-2F36-0356-3DD51A41F1ED}"/>
                </a:ext>
              </a:extLst>
            </p:cNvPr>
            <p:cNvSpPr/>
            <p:nvPr/>
          </p:nvSpPr>
          <p:spPr>
            <a:xfrm>
              <a:off x="9417389" y="3276224"/>
              <a:ext cx="1808186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FINAL REPORT</a:t>
              </a:r>
              <a:endParaRPr lang="pl-PL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34CA720C-2747-2049-4F54-F1419837A51D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04DD4487-EEF2-4F7C-01BC-071DBB58BB95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/>
              <a:t>fastq2tracks.sh</a:t>
            </a:r>
            <a:r>
              <a:rPr lang="pl-PL" sz="2200" b="1" dirty="0"/>
              <a:t> </a:t>
            </a:r>
            <a:r>
              <a:rPr lang="pl-PL" sz="2200" b="1" dirty="0" err="1"/>
              <a:t>workflow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156904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173B-A7B0-2ED0-BDCB-4F8AF0DA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6ED94473-6BF2-A281-D443-5F8CF44D86AA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5C5ECE84-9CB4-41C9-5897-896E8AEFF00F}"/>
              </a:ext>
            </a:extLst>
          </p:cNvPr>
          <p:cNvSpPr txBox="1"/>
          <p:nvPr/>
        </p:nvSpPr>
        <p:spPr>
          <a:xfrm>
            <a:off x="0" y="89451"/>
            <a:ext cx="12191999" cy="76944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</a:p>
          <a:p>
            <a:pPr algn="ctr"/>
            <a:r>
              <a:rPr lang="pl-PL" sz="2200" b="1" dirty="0" err="1"/>
              <a:t>usage</a:t>
            </a:r>
            <a:endParaRPr lang="pl-PL" sz="2200" b="1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F3A9933-F8A1-7DAB-CF4C-35E1496EACC4}"/>
              </a:ext>
            </a:extLst>
          </p:cNvPr>
          <p:cNvSpPr txBox="1"/>
          <p:nvPr/>
        </p:nvSpPr>
        <p:spPr>
          <a:xfrm>
            <a:off x="361949" y="1415123"/>
            <a:ext cx="1175385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1</a:t>
            </a:r>
          </a:p>
          <a:p>
            <a:r>
              <a:rPr lang="pl-PL" b="1" dirty="0"/>
              <a:t>PATH_to_Script/DNAfastqBigWig_human_main_v5_31aug2025.sh [</a:t>
            </a:r>
            <a:r>
              <a:rPr lang="pl-PL" b="1" dirty="0" err="1"/>
              <a:t>inputFolder</a:t>
            </a:r>
            <a:r>
              <a:rPr lang="pl-PL" b="1" dirty="0"/>
              <a:t>] [</a:t>
            </a:r>
            <a:r>
              <a:rPr lang="pl-PL" b="1" dirty="0" err="1"/>
              <a:t>outputFolder</a:t>
            </a:r>
            <a:r>
              <a:rPr lang="pl-PL" b="1" dirty="0"/>
              <a:t>] [max </a:t>
            </a:r>
            <a:r>
              <a:rPr lang="pl-PL" b="1" dirty="0" err="1"/>
              <a:t>jobs</a:t>
            </a:r>
            <a:r>
              <a:rPr lang="pl-PL" b="1" dirty="0"/>
              <a:t>]</a:t>
            </a:r>
          </a:p>
          <a:p>
            <a:endParaRPr lang="pl-PL" dirty="0"/>
          </a:p>
          <a:p>
            <a:pPr>
              <a:lnSpc>
                <a:spcPct val="150000"/>
              </a:lnSpc>
            </a:pPr>
            <a:r>
              <a:rPr lang="pl-PL" b="1" dirty="0"/>
              <a:t>[</a:t>
            </a:r>
            <a:r>
              <a:rPr lang="pl-PL" b="1" dirty="0" err="1"/>
              <a:t>inputFolder</a:t>
            </a:r>
            <a:r>
              <a:rPr lang="pl-PL" b="1" dirty="0"/>
              <a:t>] </a:t>
            </a:r>
            <a:r>
              <a:rPr lang="pl-PL" dirty="0"/>
              <a:t>- folder with </a:t>
            </a:r>
            <a:r>
              <a:rPr lang="pl-PL" dirty="0" err="1"/>
              <a:t>fastq</a:t>
            </a:r>
            <a:r>
              <a:rPr lang="pl-PL" dirty="0"/>
              <a:t> </a:t>
            </a:r>
            <a:r>
              <a:rPr lang="pl-PL" dirty="0" err="1"/>
              <a:t>files</a:t>
            </a:r>
            <a:r>
              <a:rPr lang="pl-PL" dirty="0"/>
              <a:t>; </a:t>
            </a:r>
            <a:r>
              <a:rPr lang="pl-PL" dirty="0" err="1"/>
              <a:t>seperately</a:t>
            </a:r>
            <a:r>
              <a:rPr lang="pl-PL" dirty="0"/>
              <a:t> </a:t>
            </a:r>
            <a:r>
              <a:rPr lang="pl-PL" dirty="0" err="1"/>
              <a:t>human</a:t>
            </a:r>
            <a:r>
              <a:rPr lang="pl-PL" dirty="0"/>
              <a:t> and </a:t>
            </a:r>
            <a:r>
              <a:rPr lang="pl-PL" dirty="0" err="1"/>
              <a:t>mouse</a:t>
            </a:r>
            <a:r>
              <a:rPr lang="pl-PL" dirty="0"/>
              <a:t>; </a:t>
            </a:r>
            <a:r>
              <a:rPr lang="pl-PL" dirty="0" err="1"/>
              <a:t>distinct</a:t>
            </a:r>
            <a:r>
              <a:rPr lang="pl-PL" dirty="0"/>
              <a:t> scripts for </a:t>
            </a:r>
            <a:r>
              <a:rPr lang="pl-PL" dirty="0" err="1"/>
              <a:t>each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b="1" dirty="0"/>
              <a:t>[</a:t>
            </a:r>
            <a:r>
              <a:rPr lang="pl-PL" b="1" dirty="0" err="1"/>
              <a:t>outputFolder</a:t>
            </a:r>
            <a:r>
              <a:rPr lang="pl-PL" b="1" dirty="0"/>
              <a:t>] </a:t>
            </a:r>
            <a:r>
              <a:rPr lang="pl-PL" dirty="0"/>
              <a:t>- for </a:t>
            </a:r>
            <a:r>
              <a:rPr lang="pl-PL" dirty="0" err="1"/>
              <a:t>all</a:t>
            </a:r>
            <a:r>
              <a:rPr lang="pl-PL" dirty="0"/>
              <a:t> </a:t>
            </a:r>
            <a:r>
              <a:rPr lang="pl-PL" dirty="0" err="1"/>
              <a:t>script</a:t>
            </a:r>
            <a:r>
              <a:rPr lang="pl-PL" dirty="0"/>
              <a:t> </a:t>
            </a:r>
            <a:r>
              <a:rPr lang="pl-PL" dirty="0" err="1"/>
              <a:t>outputs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b="1" dirty="0"/>
              <a:t>[max </a:t>
            </a:r>
            <a:r>
              <a:rPr lang="pl-PL" b="1" dirty="0" err="1"/>
              <a:t>jobs</a:t>
            </a:r>
            <a:r>
              <a:rPr lang="pl-PL" b="1" dirty="0"/>
              <a:t>] </a:t>
            </a:r>
            <a:r>
              <a:rPr lang="pl-PL" dirty="0"/>
              <a:t>- </a:t>
            </a:r>
            <a:r>
              <a:rPr lang="pl-PL" dirty="0" err="1"/>
              <a:t>maximal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 of </a:t>
            </a:r>
            <a:r>
              <a:rPr lang="pl-PL" dirty="0" err="1"/>
              <a:t>jobs</a:t>
            </a:r>
            <a:r>
              <a:rPr lang="pl-PL" dirty="0"/>
              <a:t> to be run in </a:t>
            </a:r>
            <a:r>
              <a:rPr lang="pl-PL" dirty="0" err="1"/>
              <a:t>parallel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953F664-8371-A5D6-C790-DADDC1FF6C26}"/>
              </a:ext>
            </a:extLst>
          </p:cNvPr>
          <p:cNvSpPr txBox="1"/>
          <p:nvPr/>
        </p:nvSpPr>
        <p:spPr>
          <a:xfrm>
            <a:off x="361949" y="3894862"/>
            <a:ext cx="1175385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#2</a:t>
            </a:r>
          </a:p>
          <a:p>
            <a:pPr>
              <a:lnSpc>
                <a:spcPct val="150000"/>
              </a:lnSpc>
            </a:pPr>
            <a:r>
              <a:rPr lang="pl-PL" dirty="0" err="1"/>
              <a:t>script</a:t>
            </a:r>
            <a:r>
              <a:rPr lang="pl-PL" dirty="0"/>
              <a:t> </a:t>
            </a:r>
            <a:r>
              <a:rPr lang="pl-PL" dirty="0" err="1"/>
              <a:t>assumes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one </a:t>
            </a:r>
            <a:r>
              <a:rPr lang="pl-PL" dirty="0" err="1"/>
              <a:t>sample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represented</a:t>
            </a:r>
            <a:r>
              <a:rPr lang="pl-PL" dirty="0"/>
              <a:t> by 1 </a:t>
            </a:r>
            <a:r>
              <a:rPr lang="pl-PL" dirty="0" err="1"/>
              <a:t>pair</a:t>
            </a:r>
            <a:r>
              <a:rPr lang="pl-PL" dirty="0"/>
              <a:t> of </a:t>
            </a:r>
            <a:r>
              <a:rPr lang="pl-PL" dirty="0" err="1"/>
              <a:t>fastq</a:t>
            </a:r>
            <a:r>
              <a:rPr lang="pl-PL" dirty="0"/>
              <a:t> </a:t>
            </a:r>
            <a:r>
              <a:rPr lang="pl-PL" dirty="0" err="1"/>
              <a:t>files</a:t>
            </a:r>
            <a:r>
              <a:rPr lang="pl-PL" dirty="0"/>
              <a:t> </a:t>
            </a:r>
            <a:r>
              <a:rPr lang="pl-PL" dirty="0" err="1"/>
              <a:t>stored</a:t>
            </a:r>
            <a:r>
              <a:rPr lang="pl-PL" dirty="0"/>
              <a:t> in </a:t>
            </a:r>
            <a:r>
              <a:rPr lang="pl-PL" dirty="0" err="1"/>
              <a:t>seperate</a:t>
            </a:r>
            <a:r>
              <a:rPr lang="pl-PL" dirty="0"/>
              <a:t> </a:t>
            </a:r>
            <a:r>
              <a:rPr lang="pl-PL" dirty="0" err="1"/>
              <a:t>files</a:t>
            </a:r>
            <a:r>
              <a:rPr lang="pl-PL" dirty="0"/>
              <a:t> in "</a:t>
            </a:r>
            <a:r>
              <a:rPr lang="pl-PL" dirty="0" err="1"/>
              <a:t>inputFolder</a:t>
            </a:r>
            <a:r>
              <a:rPr lang="pl-PL" dirty="0"/>
              <a:t>" </a:t>
            </a:r>
            <a:r>
              <a:rPr lang="pl-PL" dirty="0" err="1"/>
              <a:t>named</a:t>
            </a:r>
            <a:r>
              <a:rPr lang="pl-PL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 err="1"/>
              <a:t>path</a:t>
            </a:r>
            <a:r>
              <a:rPr lang="pl-PL" b="1" dirty="0"/>
              <a:t>/to/folder/</a:t>
            </a:r>
            <a:r>
              <a:rPr lang="pl-PL" b="1" dirty="0" err="1"/>
              <a:t>inputFolder</a:t>
            </a:r>
            <a:r>
              <a:rPr lang="pl-PL" b="1" dirty="0"/>
              <a:t>/*_1.fq.gz</a:t>
            </a:r>
          </a:p>
          <a:p>
            <a:pPr>
              <a:lnSpc>
                <a:spcPct val="150000"/>
              </a:lnSpc>
            </a:pPr>
            <a:r>
              <a:rPr lang="pl-PL" b="1" dirty="0" err="1"/>
              <a:t>path</a:t>
            </a:r>
            <a:r>
              <a:rPr lang="pl-PL" b="1" dirty="0"/>
              <a:t>/to/folder/</a:t>
            </a:r>
            <a:r>
              <a:rPr lang="pl-PL" b="1" dirty="0" err="1"/>
              <a:t>inputFolder</a:t>
            </a:r>
            <a:r>
              <a:rPr lang="pl-PL" b="1" dirty="0"/>
              <a:t>/*_2.fq.gz</a:t>
            </a:r>
          </a:p>
          <a:p>
            <a:pPr>
              <a:lnSpc>
                <a:spcPct val="150000"/>
              </a:lnSpc>
            </a:pPr>
            <a:r>
              <a:rPr lang="pl-PL" dirty="0"/>
              <a:t>It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been</a:t>
            </a:r>
            <a:r>
              <a:rPr lang="pl-PL" dirty="0"/>
              <a:t> </a:t>
            </a:r>
            <a:r>
              <a:rPr lang="pl-PL" dirty="0" err="1"/>
              <a:t>tested</a:t>
            </a:r>
            <a:r>
              <a:rPr lang="pl-PL" dirty="0"/>
              <a:t> </a:t>
            </a:r>
            <a:r>
              <a:rPr lang="pl-PL" dirty="0" err="1"/>
              <a:t>initially</a:t>
            </a:r>
            <a:r>
              <a:rPr lang="pl-PL" dirty="0"/>
              <a:t> on 150 bp </a:t>
            </a:r>
            <a:r>
              <a:rPr lang="pl-PL" dirty="0" err="1"/>
              <a:t>paire</a:t>
            </a:r>
            <a:r>
              <a:rPr lang="pl-PL" dirty="0"/>
              <a:t>-end </a:t>
            </a:r>
            <a:r>
              <a:rPr lang="pl-PL" dirty="0" err="1"/>
              <a:t>reads</a:t>
            </a:r>
            <a:r>
              <a:rPr lang="pl-PL" dirty="0"/>
              <a:t> </a:t>
            </a:r>
            <a:r>
              <a:rPr lang="pl-PL" dirty="0" err="1"/>
              <a:t>generated</a:t>
            </a:r>
            <a:r>
              <a:rPr lang="pl-PL" dirty="0"/>
              <a:t> by </a:t>
            </a:r>
            <a:r>
              <a:rPr lang="pl-PL" dirty="0" err="1"/>
              <a:t>Illumina</a:t>
            </a:r>
            <a:r>
              <a:rPr lang="pl-PL" dirty="0"/>
              <a:t> </a:t>
            </a:r>
            <a:r>
              <a:rPr lang="pl-PL" dirty="0" err="1"/>
              <a:t>NovaSeqX</a:t>
            </a:r>
            <a:r>
              <a:rPr lang="pl-PL" dirty="0"/>
              <a:t> </a:t>
            </a:r>
            <a:r>
              <a:rPr lang="pl-PL" dirty="0" err="1"/>
              <a:t>Plu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839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F769F-F321-FDCE-A30B-6DE86080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4A622C76-427F-39B5-4D93-9E27B880F7A3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3E297858-A6D9-8FDF-C361-CFE69788E67A}"/>
              </a:ext>
            </a:extLst>
          </p:cNvPr>
          <p:cNvSpPr txBox="1"/>
          <p:nvPr/>
        </p:nvSpPr>
        <p:spPr>
          <a:xfrm>
            <a:off x="0" y="89451"/>
            <a:ext cx="12191999" cy="76944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</a:p>
          <a:p>
            <a:pPr algn="ctr"/>
            <a:r>
              <a:rPr lang="pl-PL" sz="2200" b="1" dirty="0"/>
              <a:t>Scripts </a:t>
            </a:r>
            <a:r>
              <a:rPr lang="pl-PL" sz="2200" b="1" dirty="0" err="1"/>
              <a:t>used</a:t>
            </a:r>
            <a:r>
              <a:rPr lang="pl-PL" sz="2200" b="1" dirty="0"/>
              <a:t> in </a:t>
            </a:r>
            <a:r>
              <a:rPr lang="pl-PL" sz="2200" b="1" dirty="0" err="1"/>
              <a:t>workflow</a:t>
            </a:r>
            <a:endParaRPr lang="pl-PL" sz="2200" b="1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0653B8C-C958-4A4C-212B-C9D364908A92}"/>
              </a:ext>
            </a:extLst>
          </p:cNvPr>
          <p:cNvSpPr txBox="1"/>
          <p:nvPr/>
        </p:nvSpPr>
        <p:spPr>
          <a:xfrm>
            <a:off x="323850" y="1377023"/>
            <a:ext cx="6962775" cy="531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3 scripts: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DNAfastqBigWig_human_main_v5_31aug2025.sh  # master </a:t>
            </a:r>
            <a:r>
              <a:rPr lang="pl-PL" b="1" dirty="0" err="1"/>
              <a:t>script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fastqc_batch_v1_30aug2025.sh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trimgalore_batch_final_v2_30aug2025.sh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bowtie2_human_batch_v1_31aug.sh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bowtie2_dovetail_pairedEnd_Hsapiens_31Aug25.sh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picard_deduplication_batch_31aug2025_v8.sh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picard_deduplication_28aug2025.sh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genomecoverage_batch_v1_31aug2025.sh</a:t>
            </a:r>
          </a:p>
          <a:p>
            <a:pPr>
              <a:lnSpc>
                <a:spcPct val="150000"/>
              </a:lnSpc>
            </a:pPr>
            <a:r>
              <a:rPr lang="pl-PL" b="1" dirty="0"/>
              <a:t>genomeCoverage_DNA_human_26aug2025.sh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create_ucsc_tracks_v1_31aug2025.sh</a:t>
            </a:r>
          </a:p>
          <a:p>
            <a:pPr>
              <a:lnSpc>
                <a:spcPct val="150000"/>
              </a:lnSpc>
            </a:pPr>
            <a:r>
              <a:rPr lang="en-GB" b="1" dirty="0"/>
              <a:t>generate_pipeline_report_final_v4_01sep2025.sh</a:t>
            </a:r>
          </a:p>
          <a:p>
            <a:pPr>
              <a:lnSpc>
                <a:spcPct val="150000"/>
              </a:lnSpc>
            </a:pPr>
            <a:r>
              <a:rPr lang="en-GB" b="1" dirty="0"/>
              <a:t>generate_multiqc_unified_report.sh</a:t>
            </a:r>
            <a:endParaRPr lang="pl-PL" b="1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D0B88DA-71D6-C009-65E9-D2B2C6E64816}"/>
              </a:ext>
            </a:extLst>
          </p:cNvPr>
          <p:cNvSpPr txBox="1"/>
          <p:nvPr/>
        </p:nvSpPr>
        <p:spPr>
          <a:xfrm>
            <a:off x="7905749" y="1377023"/>
            <a:ext cx="4381501" cy="518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4 </a:t>
            </a:r>
            <a:r>
              <a:rPr lang="pl-PL" b="1" dirty="0" err="1"/>
              <a:t>folders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reports</a:t>
            </a:r>
            <a:r>
              <a:rPr lang="pl-PL" sz="1400" b="1" dirty="0"/>
              <a:t>/</a:t>
            </a:r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fastQC</a:t>
            </a:r>
            <a:r>
              <a:rPr lang="pl-PL" sz="1400" b="1" dirty="0"/>
              <a:t>/</a:t>
            </a:r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fastQC</a:t>
            </a:r>
            <a:r>
              <a:rPr lang="pl-PL" sz="1400" b="1" dirty="0"/>
              <a:t>/</a:t>
            </a:r>
            <a:r>
              <a:rPr lang="pl-PL" sz="1400" b="1" dirty="0" err="1"/>
              <a:t>fastQC_unTrimmed</a:t>
            </a:r>
            <a:r>
              <a:rPr lang="pl-PL" sz="1400" b="1" dirty="0"/>
              <a:t>/</a:t>
            </a:r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fastQC</a:t>
            </a:r>
            <a:r>
              <a:rPr lang="pl-PL" sz="1400" b="1" dirty="0"/>
              <a:t>/</a:t>
            </a:r>
            <a:r>
              <a:rPr lang="pl-PL" sz="1400" b="1" dirty="0" err="1"/>
              <a:t>fastQC_trimmed</a:t>
            </a:r>
            <a:r>
              <a:rPr lang="pl-PL" sz="1400" b="1" dirty="0"/>
              <a:t>/</a:t>
            </a:r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multiQC</a:t>
            </a:r>
            <a:r>
              <a:rPr lang="pl-PL" sz="1400" b="1" dirty="0"/>
              <a:t>/</a:t>
            </a:r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multiQC</a:t>
            </a:r>
            <a:r>
              <a:rPr lang="pl-PL" sz="1400" b="1" dirty="0"/>
              <a:t>/</a:t>
            </a:r>
            <a:r>
              <a:rPr lang="pl-PL" sz="1400" b="1" dirty="0" err="1"/>
              <a:t>multiQC_unTrimmed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multiQC</a:t>
            </a:r>
            <a:r>
              <a:rPr lang="pl-PL" sz="1400" b="1" dirty="0"/>
              <a:t>/</a:t>
            </a:r>
            <a:r>
              <a:rPr lang="pl-PL" sz="1400" b="1" dirty="0" err="1"/>
              <a:t>multiQC_trimmed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multiQC</a:t>
            </a:r>
            <a:r>
              <a:rPr lang="pl-PL" sz="1400" b="1" dirty="0"/>
              <a:t>/</a:t>
            </a:r>
            <a:r>
              <a:rPr lang="pl-PL" sz="1400" b="1" dirty="0" err="1"/>
              <a:t>multiQC_alignments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multiQC</a:t>
            </a:r>
            <a:r>
              <a:rPr lang="pl-PL" sz="1400" b="1" dirty="0"/>
              <a:t>/</a:t>
            </a:r>
            <a:r>
              <a:rPr lang="pl-PL" sz="1400" b="1" dirty="0" err="1"/>
              <a:t>multiQC_deduplication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trimmedFastq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bams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dedupBams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bedGraph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NormBedGraph</a:t>
            </a:r>
            <a:endParaRPr lang="pl-PL" sz="1400" b="1" dirty="0"/>
          </a:p>
          <a:p>
            <a:pPr>
              <a:lnSpc>
                <a:spcPct val="150000"/>
              </a:lnSpc>
            </a:pPr>
            <a:r>
              <a:rPr lang="pl-PL" sz="1400" b="1" dirty="0" err="1"/>
              <a:t>outputFolder</a:t>
            </a:r>
            <a:r>
              <a:rPr lang="pl-PL" sz="1400" b="1" dirty="0"/>
              <a:t>/</a:t>
            </a:r>
            <a:r>
              <a:rPr lang="pl-PL" sz="1400" b="1" dirty="0" err="1"/>
              <a:t>bigwig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9499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8412-A435-DDA2-1084-A562998D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A6F6D076-1CBB-4262-F7AE-CDFB0F37ACF5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60703E95-D742-22C9-A22C-4B91DB4EBADF}"/>
              </a:ext>
            </a:extLst>
          </p:cNvPr>
          <p:cNvSpPr txBox="1"/>
          <p:nvPr/>
        </p:nvSpPr>
        <p:spPr>
          <a:xfrm>
            <a:off x="0" y="89451"/>
            <a:ext cx="12191999" cy="76944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</a:p>
          <a:p>
            <a:pPr algn="ctr"/>
            <a:r>
              <a:rPr lang="en-GB" sz="2200" b="1" dirty="0"/>
              <a:t>Workflow steps</a:t>
            </a:r>
            <a:endParaRPr lang="pl-PL" sz="2200" b="1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3D34893-4CE4-E45F-2F75-688AC81DEDDC}"/>
              </a:ext>
            </a:extLst>
          </p:cNvPr>
          <p:cNvSpPr txBox="1"/>
          <p:nvPr/>
        </p:nvSpPr>
        <p:spPr>
          <a:xfrm>
            <a:off x="1357311" y="1854133"/>
            <a:ext cx="9477376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1.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folders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2.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unprocessed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3. </a:t>
            </a:r>
            <a:r>
              <a:rPr lang="pl-PL" b="1" dirty="0" err="1"/>
              <a:t>trimming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</a:t>
            </a:r>
            <a:r>
              <a:rPr lang="pl-PL" b="1" dirty="0" err="1"/>
              <a:t>TrmmGalore</a:t>
            </a:r>
            <a:r>
              <a:rPr lang="pl-PL" b="1" dirty="0"/>
              <a:t> </a:t>
            </a:r>
            <a:r>
              <a:rPr lang="pl-PL" b="1" dirty="0" err="1"/>
              <a:t>based</a:t>
            </a:r>
            <a:r>
              <a:rPr lang="pl-PL" b="1" dirty="0"/>
              <a:t> on </a:t>
            </a:r>
            <a:r>
              <a:rPr lang="pl-PL" b="1" dirty="0" err="1"/>
              <a:t>quality</a:t>
            </a:r>
            <a:r>
              <a:rPr lang="pl-PL" b="1" dirty="0"/>
              <a:t> &amp; </a:t>
            </a:r>
            <a:r>
              <a:rPr lang="pl-PL" b="1" dirty="0" err="1"/>
              <a:t>sequence</a:t>
            </a:r>
            <a:r>
              <a:rPr lang="pl-PL" b="1" dirty="0"/>
              <a:t> - </a:t>
            </a:r>
            <a:r>
              <a:rPr lang="pl-PL" b="1" dirty="0" err="1"/>
              <a:t>adpater</a:t>
            </a:r>
            <a:r>
              <a:rPr lang="pl-PL" b="1" dirty="0"/>
              <a:t> </a:t>
            </a:r>
            <a:r>
              <a:rPr lang="pl-PL" b="1" dirty="0" err="1"/>
              <a:t>removal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4.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5. </a:t>
            </a:r>
            <a:r>
              <a:rPr lang="pl-PL" b="1" dirty="0" err="1"/>
              <a:t>Alignment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Bowtie2 to hg38 </a:t>
            </a:r>
            <a:r>
              <a:rPr lang="pl-PL" b="1" dirty="0" err="1"/>
              <a:t>genome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6. </a:t>
            </a:r>
            <a:r>
              <a:rPr lang="pl-PL" b="1" dirty="0" err="1"/>
              <a:t>Removal</a:t>
            </a:r>
            <a:r>
              <a:rPr lang="pl-PL" b="1" dirty="0"/>
              <a:t> of </a:t>
            </a:r>
            <a:r>
              <a:rPr lang="pl-PL" b="1" dirty="0" err="1"/>
              <a:t>read</a:t>
            </a:r>
            <a:r>
              <a:rPr lang="pl-PL" b="1" dirty="0"/>
              <a:t> </a:t>
            </a:r>
            <a:r>
              <a:rPr lang="pl-PL" b="1" dirty="0" err="1"/>
              <a:t>duplicates</a:t>
            </a:r>
            <a:r>
              <a:rPr lang="pl-PL" b="1" dirty="0"/>
              <a:t> with </a:t>
            </a:r>
            <a:r>
              <a:rPr lang="pl-PL" b="1" dirty="0" err="1"/>
              <a:t>picard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7.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coverages</a:t>
            </a:r>
            <a:r>
              <a:rPr lang="pl-PL" b="1" dirty="0"/>
              <a:t>, </a:t>
            </a:r>
            <a:r>
              <a:rPr lang="pl-PL" b="1" dirty="0" err="1"/>
              <a:t>rpm</a:t>
            </a:r>
            <a:r>
              <a:rPr lang="pl-PL" b="1" dirty="0"/>
              <a:t> </a:t>
            </a:r>
            <a:r>
              <a:rPr lang="pl-PL" b="1" dirty="0" err="1"/>
              <a:t>normalization</a:t>
            </a:r>
            <a:r>
              <a:rPr lang="pl-PL" b="1" dirty="0"/>
              <a:t> and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bedGraph</a:t>
            </a:r>
            <a:r>
              <a:rPr lang="pl-PL" b="1" dirty="0"/>
              <a:t> &amp;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8.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generic</a:t>
            </a:r>
            <a:r>
              <a:rPr lang="pl-PL" b="1" dirty="0"/>
              <a:t> UCSC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track</a:t>
            </a:r>
            <a:r>
              <a:rPr lang="pl-PL" b="1" dirty="0"/>
              <a:t> lines</a:t>
            </a:r>
          </a:p>
          <a:p>
            <a:pPr>
              <a:lnSpc>
                <a:spcPct val="150000"/>
              </a:lnSpc>
            </a:pPr>
            <a:r>
              <a:rPr lang="pl-PL" b="1" dirty="0"/>
              <a:t>9. </a:t>
            </a:r>
            <a:r>
              <a:rPr lang="pl-PL" b="1" dirty="0" err="1"/>
              <a:t>Generating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report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10. </a:t>
            </a:r>
            <a:r>
              <a:rPr lang="pl-PL" b="1" dirty="0" err="1"/>
              <a:t>Generating</a:t>
            </a:r>
            <a:r>
              <a:rPr lang="pl-PL" b="1" dirty="0"/>
              <a:t> report with </a:t>
            </a:r>
            <a:r>
              <a:rPr lang="pl-PL" b="1" dirty="0" err="1"/>
              <a:t>summary</a:t>
            </a:r>
            <a:r>
              <a:rPr lang="pl-PL" b="1" dirty="0"/>
              <a:t> of </a:t>
            </a:r>
            <a:r>
              <a:rPr lang="pl-PL" b="1" dirty="0" err="1"/>
              <a:t>multiqc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of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, </a:t>
            </a:r>
            <a:r>
              <a:rPr lang="pl-PL" b="1" dirty="0" err="1"/>
              <a:t>trimming</a:t>
            </a:r>
            <a:r>
              <a:rPr lang="pl-PL" b="1" dirty="0"/>
              <a:t>, </a:t>
            </a:r>
            <a:r>
              <a:rPr lang="pl-PL" b="1" dirty="0" err="1"/>
              <a:t>aligmnet</a:t>
            </a:r>
            <a:r>
              <a:rPr lang="pl-PL" b="1" dirty="0"/>
              <a:t> and </a:t>
            </a:r>
            <a:r>
              <a:rPr lang="pl-PL" b="1" dirty="0" err="1"/>
              <a:t>deduplication</a:t>
            </a:r>
            <a:endParaRPr lang="pl-PL" dirty="0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8B59A7FD-8825-AAD1-E572-966236AD7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26980" r="2701" b="47235"/>
          <a:stretch>
            <a:fillRect/>
          </a:stretch>
        </p:blipFill>
        <p:spPr>
          <a:xfrm>
            <a:off x="5699125" y="1131396"/>
            <a:ext cx="6053481" cy="9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6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FCAE-B0AA-9BFF-8990-8736E6E4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DAFB1F27-689F-BD52-76D3-7324D99439D8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9F172F66-5ABC-E186-D363-53119075B016}"/>
              </a:ext>
            </a:extLst>
          </p:cNvPr>
          <p:cNvSpPr txBox="1"/>
          <p:nvPr/>
        </p:nvSpPr>
        <p:spPr>
          <a:xfrm>
            <a:off x="1397794" y="262069"/>
            <a:ext cx="10260012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 err="1"/>
              <a:t>DNAfastqBigWig</a:t>
            </a:r>
            <a:r>
              <a:rPr lang="en-US" sz="2200" b="1" dirty="0"/>
              <a:t>: </a:t>
            </a:r>
            <a:r>
              <a:rPr lang="en-GB" sz="2200" b="1" dirty="0" err="1"/>
              <a:t>FastQC</a:t>
            </a:r>
            <a:r>
              <a:rPr lang="en-GB" sz="2200" b="1" dirty="0"/>
              <a:t> of untrimmed FASTQ files</a:t>
            </a:r>
            <a:endParaRPr lang="pl-PL" sz="2200" b="1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2F69B93-C76A-83AE-DEE0-706D70A3D669}"/>
              </a:ext>
            </a:extLst>
          </p:cNvPr>
          <p:cNvSpPr txBox="1"/>
          <p:nvPr/>
        </p:nvSpPr>
        <p:spPr>
          <a:xfrm>
            <a:off x="219074" y="1265176"/>
            <a:ext cx="9477376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1 </a:t>
            </a:r>
            <a:r>
              <a:rPr lang="pl-PL" b="1" dirty="0" err="1"/>
              <a:t>Workflow</a:t>
            </a:r>
            <a:r>
              <a:rPr lang="pl-PL" b="1" dirty="0"/>
              <a:t> </a:t>
            </a:r>
            <a:r>
              <a:rPr lang="pl-PL" b="1" dirty="0" err="1"/>
              <a:t>parts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folders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>
                <a:solidFill>
                  <a:srgbClr val="FF0000"/>
                </a:solidFill>
              </a:rPr>
              <a:t>2. </a:t>
            </a:r>
            <a:r>
              <a:rPr lang="pl-PL" b="1" dirty="0" err="1">
                <a:solidFill>
                  <a:srgbClr val="FF0000"/>
                </a:solidFill>
              </a:rPr>
              <a:t>Quality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control</a:t>
            </a:r>
            <a:r>
              <a:rPr lang="pl-PL" b="1" dirty="0">
                <a:solidFill>
                  <a:srgbClr val="FF0000"/>
                </a:solidFill>
              </a:rPr>
              <a:t> of </a:t>
            </a:r>
            <a:r>
              <a:rPr lang="pl-PL" b="1" dirty="0" err="1">
                <a:solidFill>
                  <a:srgbClr val="FF0000"/>
                </a:solidFill>
              </a:rPr>
              <a:t>unprocessed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fastq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files</a:t>
            </a:r>
            <a:r>
              <a:rPr lang="pl-PL" b="1" dirty="0">
                <a:solidFill>
                  <a:srgbClr val="FF0000"/>
                </a:solidFill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3. </a:t>
            </a:r>
            <a:r>
              <a:rPr lang="pl-PL" b="1" dirty="0" err="1"/>
              <a:t>trimming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</a:t>
            </a:r>
            <a:r>
              <a:rPr lang="pl-PL" b="1" dirty="0" err="1"/>
              <a:t>TrmmGalore</a:t>
            </a:r>
            <a:r>
              <a:rPr lang="pl-PL" b="1" dirty="0"/>
              <a:t> </a:t>
            </a:r>
            <a:r>
              <a:rPr lang="pl-PL" b="1" dirty="0" err="1"/>
              <a:t>based</a:t>
            </a:r>
            <a:r>
              <a:rPr lang="pl-PL" b="1" dirty="0"/>
              <a:t> on </a:t>
            </a:r>
            <a:r>
              <a:rPr lang="pl-PL" b="1" dirty="0" err="1"/>
              <a:t>quality</a:t>
            </a:r>
            <a:r>
              <a:rPr lang="pl-PL" b="1" dirty="0"/>
              <a:t> &amp; </a:t>
            </a:r>
            <a:r>
              <a:rPr lang="pl-PL" b="1" dirty="0" err="1"/>
              <a:t>sequence</a:t>
            </a:r>
            <a:r>
              <a:rPr lang="pl-PL" b="1" dirty="0"/>
              <a:t> - </a:t>
            </a:r>
            <a:r>
              <a:rPr lang="pl-PL" b="1" dirty="0" err="1"/>
              <a:t>adpater</a:t>
            </a:r>
            <a:r>
              <a:rPr lang="pl-PL" b="1" dirty="0"/>
              <a:t> </a:t>
            </a:r>
            <a:r>
              <a:rPr lang="pl-PL" b="1" dirty="0" err="1"/>
              <a:t>removal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4.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5. </a:t>
            </a:r>
            <a:r>
              <a:rPr lang="pl-PL" b="1" dirty="0" err="1"/>
              <a:t>Alignment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Bowtie2 to hg38 </a:t>
            </a:r>
            <a:r>
              <a:rPr lang="pl-PL" b="1" dirty="0" err="1"/>
              <a:t>genome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6. </a:t>
            </a:r>
            <a:r>
              <a:rPr lang="pl-PL" b="1" dirty="0" err="1"/>
              <a:t>Removal</a:t>
            </a:r>
            <a:r>
              <a:rPr lang="pl-PL" b="1" dirty="0"/>
              <a:t> of </a:t>
            </a:r>
            <a:r>
              <a:rPr lang="pl-PL" b="1" dirty="0" err="1"/>
              <a:t>read</a:t>
            </a:r>
            <a:r>
              <a:rPr lang="pl-PL" b="1" dirty="0"/>
              <a:t> </a:t>
            </a:r>
            <a:r>
              <a:rPr lang="pl-PL" b="1" dirty="0" err="1"/>
              <a:t>duplicates</a:t>
            </a:r>
            <a:r>
              <a:rPr lang="pl-PL" b="1" dirty="0"/>
              <a:t> with </a:t>
            </a:r>
            <a:r>
              <a:rPr lang="pl-PL" b="1" dirty="0" err="1"/>
              <a:t>picard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7.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coverages</a:t>
            </a:r>
            <a:r>
              <a:rPr lang="pl-PL" b="1" dirty="0"/>
              <a:t>, </a:t>
            </a:r>
            <a:r>
              <a:rPr lang="pl-PL" b="1" dirty="0" err="1"/>
              <a:t>rpm</a:t>
            </a:r>
            <a:r>
              <a:rPr lang="pl-PL" b="1" dirty="0"/>
              <a:t> </a:t>
            </a:r>
            <a:r>
              <a:rPr lang="pl-PL" b="1" dirty="0" err="1"/>
              <a:t>normalization</a:t>
            </a:r>
            <a:r>
              <a:rPr lang="pl-PL" b="1" dirty="0"/>
              <a:t> and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bedGraph</a:t>
            </a:r>
            <a:r>
              <a:rPr lang="pl-PL" b="1" dirty="0"/>
              <a:t> &amp;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8.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generic</a:t>
            </a:r>
            <a:r>
              <a:rPr lang="pl-PL" b="1" dirty="0"/>
              <a:t> UCSC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track</a:t>
            </a:r>
            <a:r>
              <a:rPr lang="pl-PL" b="1" dirty="0"/>
              <a:t> lines</a:t>
            </a:r>
          </a:p>
          <a:p>
            <a:pPr>
              <a:lnSpc>
                <a:spcPct val="150000"/>
              </a:lnSpc>
            </a:pPr>
            <a:r>
              <a:rPr lang="pl-PL" b="1" dirty="0"/>
              <a:t>9. </a:t>
            </a:r>
            <a:r>
              <a:rPr lang="pl-PL" b="1" dirty="0" err="1"/>
              <a:t>Generating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report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10. </a:t>
            </a:r>
            <a:r>
              <a:rPr lang="pl-PL" b="1" dirty="0" err="1"/>
              <a:t>Generating</a:t>
            </a:r>
            <a:r>
              <a:rPr lang="pl-PL" b="1" dirty="0"/>
              <a:t> report with </a:t>
            </a:r>
            <a:r>
              <a:rPr lang="pl-PL" b="1" dirty="0" err="1"/>
              <a:t>summary</a:t>
            </a:r>
            <a:r>
              <a:rPr lang="pl-PL" b="1" dirty="0"/>
              <a:t> of </a:t>
            </a:r>
            <a:r>
              <a:rPr lang="pl-PL" b="1" dirty="0" err="1"/>
              <a:t>multiqc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of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, </a:t>
            </a:r>
            <a:r>
              <a:rPr lang="pl-PL" b="1" dirty="0" err="1"/>
              <a:t>trimming</a:t>
            </a:r>
            <a:r>
              <a:rPr lang="pl-PL" b="1" dirty="0"/>
              <a:t>, </a:t>
            </a:r>
            <a:r>
              <a:rPr lang="pl-PL" b="1" dirty="0" err="1"/>
              <a:t>aligmnet</a:t>
            </a:r>
            <a:r>
              <a:rPr lang="pl-PL" b="1" dirty="0"/>
              <a:t> and </a:t>
            </a:r>
            <a:r>
              <a:rPr lang="pl-PL" b="1" dirty="0" err="1"/>
              <a:t>deduplication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848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48DB2-C0A1-6912-0AA0-8A38A92F2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75A29941-A9C8-D13C-E36F-BB2F0E99C17B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A65A1680-EC09-A33B-4528-260C16832FDE}"/>
              </a:ext>
            </a:extLst>
          </p:cNvPr>
          <p:cNvSpPr txBox="1"/>
          <p:nvPr/>
        </p:nvSpPr>
        <p:spPr>
          <a:xfrm>
            <a:off x="804862" y="256871"/>
            <a:ext cx="10582274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 err="1"/>
              <a:t>DNAfastqBigWig</a:t>
            </a:r>
            <a:r>
              <a:rPr lang="en-US" sz="2200" b="1" dirty="0"/>
              <a:t>: </a:t>
            </a:r>
            <a:r>
              <a:rPr lang="en-GB" sz="2200" b="1" dirty="0" err="1"/>
              <a:t>FastQC</a:t>
            </a:r>
            <a:r>
              <a:rPr lang="en-GB" sz="2200" b="1" dirty="0"/>
              <a:t> of untrimmed FASTQ files &amp; summary with </a:t>
            </a:r>
            <a:r>
              <a:rPr lang="en-GB" sz="2200" b="1" dirty="0" err="1"/>
              <a:t>multiQC</a:t>
            </a:r>
            <a:endParaRPr lang="pl-PL" sz="2200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EFEB2F3-8430-3851-A74F-C40AD78B4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83504"/>
            <a:ext cx="11068398" cy="2914638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9B84458-02B2-A628-3A68-201694F4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729" y="4358747"/>
            <a:ext cx="4535462" cy="2060093"/>
          </a:xfrm>
          <a:prstGeom prst="rect">
            <a:avLst/>
          </a:prstGeom>
        </p:spPr>
      </p:pic>
      <p:pic>
        <p:nvPicPr>
          <p:cNvPr id="12" name="Obraz 11" descr="Obraz zawierający Czcionka, logo, Grafika, krąg&#10;&#10;Zawartość wygenerowana przez AI może być niepoprawna.">
            <a:extLst>
              <a:ext uri="{FF2B5EF4-FFF2-40B4-BE49-F238E27FC236}">
                <a16:creationId xmlns:a16="http://schemas.microsoft.com/office/drawing/2014/main" id="{1CC31867-A460-3D45-6F42-D6B2A02B1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995" y="4310616"/>
            <a:ext cx="2156353" cy="215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9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CC3C-D3CA-C26D-DB27-712F26B7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A4671726-E211-38B5-1F5D-C2B5ED606987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15A17CAD-5E19-A3E6-AB63-64DB38DE3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79" y="1990727"/>
            <a:ext cx="10096041" cy="3133724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D7FA1D80-7304-F14D-A724-91FC61C6D2A5}"/>
              </a:ext>
            </a:extLst>
          </p:cNvPr>
          <p:cNvSpPr txBox="1"/>
          <p:nvPr/>
        </p:nvSpPr>
        <p:spPr>
          <a:xfrm>
            <a:off x="180975" y="279951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Lower-level script: </a:t>
            </a:r>
            <a:r>
              <a:rPr lang="en-GB" sz="2200" b="1" dirty="0">
                <a:solidFill>
                  <a:srgbClr val="00B050"/>
                </a:solidFill>
              </a:rPr>
              <a:t>fastqc_batch_v1_30aug2025.sh </a:t>
            </a:r>
            <a:r>
              <a:rPr lang="en-GB" sz="2200" b="1" dirty="0"/>
              <a:t>– multiple job handling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393030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DAC22-D239-016E-4EFB-8CD096DB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B24ACA72-C560-70FA-8AA3-4102109D12E2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B27FC132-35C5-447C-0229-9D4D95643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328" y="2343035"/>
            <a:ext cx="10018943" cy="2514714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C1551E0C-FAB8-B4C6-9747-4179F405F578}"/>
              </a:ext>
            </a:extLst>
          </p:cNvPr>
          <p:cNvSpPr txBox="1"/>
          <p:nvPr/>
        </p:nvSpPr>
        <p:spPr>
          <a:xfrm>
            <a:off x="180975" y="279951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Lower-level script: </a:t>
            </a:r>
            <a:r>
              <a:rPr lang="en-GB" sz="2200" b="1" dirty="0">
                <a:solidFill>
                  <a:srgbClr val="00B050"/>
                </a:solidFill>
              </a:rPr>
              <a:t>fastqc_batch_v1_30aug2025.sh </a:t>
            </a:r>
            <a:r>
              <a:rPr lang="en-GB" sz="2200" b="1" dirty="0"/>
              <a:t>– hangup handling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290860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B944-9BA1-F841-1B56-5289FD27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CAF496E4-286D-A8FC-F9FD-C5F1B76B1E34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6E2A139F-4BB6-CC61-1E2A-DD4ECECE8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7" y="2657254"/>
            <a:ext cx="10996863" cy="2443747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BF36D161-ABC8-1E61-E65D-F5CCAD2D55CE}"/>
              </a:ext>
            </a:extLst>
          </p:cNvPr>
          <p:cNvSpPr txBox="1"/>
          <p:nvPr/>
        </p:nvSpPr>
        <p:spPr>
          <a:xfrm>
            <a:off x="180975" y="279951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Lower-level script: </a:t>
            </a:r>
            <a:r>
              <a:rPr lang="en-GB" sz="2200" b="1" dirty="0">
                <a:solidFill>
                  <a:srgbClr val="00B050"/>
                </a:solidFill>
              </a:rPr>
              <a:t>fastqc_batch_v1_30aug2025.sh </a:t>
            </a:r>
            <a:r>
              <a:rPr lang="en-GB" sz="2200" b="1" dirty="0"/>
              <a:t>– logging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58352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8A88-6CE3-7E29-CD05-8A23265A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B5E408A2-5B79-48BC-FAB6-9B5B5C41A0D5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2205FA3-2152-E2CD-2980-8E45C19A1F4C}"/>
              </a:ext>
            </a:extLst>
          </p:cNvPr>
          <p:cNvSpPr txBox="1"/>
          <p:nvPr/>
        </p:nvSpPr>
        <p:spPr>
          <a:xfrm>
            <a:off x="713001" y="78282"/>
            <a:ext cx="10884816" cy="76944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Monitoring usage of computing resources: adjust  “max jobs”</a:t>
            </a:r>
          </a:p>
          <a:p>
            <a:pPr algn="ctr"/>
            <a:r>
              <a:rPr lang="en-GB" sz="2200" b="1" dirty="0"/>
              <a:t>8 is fine most of the time, you can go for 2-4 if server busy with other urgent jobs</a:t>
            </a:r>
            <a:endParaRPr lang="pl-PL" sz="2200" b="1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17120069-64B1-3382-A904-253477D7F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44" y="1476136"/>
            <a:ext cx="9501431" cy="476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9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F541-41AF-434A-C8A5-1FA1EB943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7A67F85B-2147-D3AD-8C56-5FE0DC435965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Obraz 3">
            <a:extLst>
              <a:ext uri="{FF2B5EF4-FFF2-40B4-BE49-F238E27FC236}">
                <a16:creationId xmlns:a16="http://schemas.microsoft.com/office/drawing/2014/main" id="{0BE75AC8-96BB-58EA-986E-C6247B0B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34" y="3257551"/>
            <a:ext cx="8892916" cy="3039067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927C1884-BD92-3FE6-EA44-E7DD69BDF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84" y="2019077"/>
            <a:ext cx="7563906" cy="990738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F56696EF-00AE-B1E1-D34F-AE138C37F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84" y="1099621"/>
            <a:ext cx="7725853" cy="752580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86EED217-7337-FD70-89EF-78D02E97AB3C}"/>
              </a:ext>
            </a:extLst>
          </p:cNvPr>
          <p:cNvSpPr txBox="1"/>
          <p:nvPr/>
        </p:nvSpPr>
        <p:spPr>
          <a:xfrm>
            <a:off x="180975" y="279951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/>
              <a:t>Lower-level script: </a:t>
            </a:r>
            <a:r>
              <a:rPr lang="en-GB" sz="2200" b="1" dirty="0">
                <a:solidFill>
                  <a:srgbClr val="00B050"/>
                </a:solidFill>
              </a:rPr>
              <a:t>fastqc_batch_v1_30aug2025.sh </a:t>
            </a:r>
            <a:r>
              <a:rPr lang="en-GB" sz="2200" b="1" dirty="0"/>
              <a:t>– batch &amp; individual logs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174457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6BC1C-37F8-28B5-7196-1BE8BF4F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6081B186-A69B-7F66-EB84-D5EE5269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041" y="1891672"/>
            <a:ext cx="3303394" cy="1500464"/>
          </a:xfrm>
          <a:prstGeom prst="rect">
            <a:avLst/>
          </a:prstGeom>
        </p:spPr>
      </p:pic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8FAB3919-7E18-8100-F4DC-379FBFF4DE04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3EA928EE-412F-7571-3077-F89C358B69AA}"/>
              </a:ext>
            </a:extLst>
          </p:cNvPr>
          <p:cNvSpPr txBox="1"/>
          <p:nvPr/>
        </p:nvSpPr>
        <p:spPr>
          <a:xfrm>
            <a:off x="0" y="89451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 err="1"/>
              <a:t>DNAfastqBigWig</a:t>
            </a:r>
            <a:r>
              <a:rPr lang="en-US" sz="2200" b="1" dirty="0"/>
              <a:t>: </a:t>
            </a:r>
            <a:r>
              <a:rPr lang="en-GB" sz="2200" b="1" dirty="0"/>
              <a:t>summary with </a:t>
            </a:r>
            <a:r>
              <a:rPr lang="en-GB" sz="2200" b="1" dirty="0" err="1"/>
              <a:t>multiQC</a:t>
            </a:r>
            <a:endParaRPr lang="pl-PL" sz="2200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7A56AFE-9D13-9356-F2EE-F9D4E02FD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669"/>
          <a:stretch>
            <a:fillRect/>
          </a:stretch>
        </p:blipFill>
        <p:spPr>
          <a:xfrm>
            <a:off x="676275" y="1056094"/>
            <a:ext cx="11068398" cy="854891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3EAA4A07-C005-1DB3-11B1-5209B55308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937"/>
          <a:stretch>
            <a:fillRect/>
          </a:stretch>
        </p:blipFill>
        <p:spPr>
          <a:xfrm>
            <a:off x="223477" y="2325187"/>
            <a:ext cx="1910122" cy="2133898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8A993E5F-71E3-ECB8-2F05-C396B5F5C3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6603"/>
          <a:stretch>
            <a:fillRect/>
          </a:stretch>
        </p:blipFill>
        <p:spPr>
          <a:xfrm>
            <a:off x="2199882" y="2613150"/>
            <a:ext cx="3001159" cy="390579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264C004-2E1C-5EF0-3ADA-69F21C7E3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7324" y="3463506"/>
            <a:ext cx="6924675" cy="330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97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EBD7-8914-1C50-8CD0-CBD73C88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361119AB-C09D-A4B3-94D0-13554D2510B6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02025C03-0F9D-8CD7-F316-4D2B198FC73E}"/>
              </a:ext>
            </a:extLst>
          </p:cNvPr>
          <p:cNvSpPr txBox="1"/>
          <p:nvPr/>
        </p:nvSpPr>
        <p:spPr>
          <a:xfrm>
            <a:off x="1485899" y="262069"/>
            <a:ext cx="9696451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Lower-level script, </a:t>
            </a:r>
            <a:r>
              <a:rPr lang="pl-PL" sz="2200" b="1" dirty="0" err="1"/>
              <a:t>TrimGalore</a:t>
            </a:r>
            <a:r>
              <a:rPr lang="pl-PL" sz="2200" b="1" dirty="0"/>
              <a:t>: </a:t>
            </a:r>
            <a:r>
              <a:rPr lang="en-GB" sz="2200" b="1" dirty="0">
                <a:solidFill>
                  <a:srgbClr val="00B050"/>
                </a:solidFill>
              </a:rPr>
              <a:t>trimgalore_batch_final_v2_30aug2025.sh</a:t>
            </a:r>
            <a:endParaRPr lang="pl-PL" sz="2200" b="1" dirty="0">
              <a:solidFill>
                <a:srgbClr val="00B050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DA88BD2-F40A-364F-419D-002C46F0CFF9}"/>
              </a:ext>
            </a:extLst>
          </p:cNvPr>
          <p:cNvSpPr txBox="1"/>
          <p:nvPr/>
        </p:nvSpPr>
        <p:spPr>
          <a:xfrm>
            <a:off x="219074" y="1265176"/>
            <a:ext cx="9477376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1 </a:t>
            </a:r>
            <a:r>
              <a:rPr lang="pl-PL" b="1" dirty="0" err="1"/>
              <a:t>Workflow</a:t>
            </a:r>
            <a:r>
              <a:rPr lang="pl-PL" b="1" dirty="0"/>
              <a:t> </a:t>
            </a:r>
            <a:r>
              <a:rPr lang="pl-PL" b="1" dirty="0" err="1"/>
              <a:t>parts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folders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2.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unprocessed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>
                <a:solidFill>
                  <a:srgbClr val="FF0000"/>
                </a:solidFill>
              </a:rPr>
              <a:t>3. </a:t>
            </a:r>
            <a:r>
              <a:rPr lang="pl-PL" b="1" dirty="0" err="1">
                <a:solidFill>
                  <a:srgbClr val="FF0000"/>
                </a:solidFill>
              </a:rPr>
              <a:t>trimming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fastq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files</a:t>
            </a:r>
            <a:r>
              <a:rPr lang="pl-PL" b="1" dirty="0">
                <a:solidFill>
                  <a:srgbClr val="FF0000"/>
                </a:solidFill>
              </a:rPr>
              <a:t> with </a:t>
            </a:r>
            <a:r>
              <a:rPr lang="pl-PL" b="1" dirty="0" err="1">
                <a:solidFill>
                  <a:srgbClr val="FF0000"/>
                </a:solidFill>
              </a:rPr>
              <a:t>TrmmGalore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based</a:t>
            </a:r>
            <a:r>
              <a:rPr lang="pl-PL" b="1" dirty="0">
                <a:solidFill>
                  <a:srgbClr val="FF0000"/>
                </a:solidFill>
              </a:rPr>
              <a:t> on </a:t>
            </a:r>
            <a:r>
              <a:rPr lang="pl-PL" b="1" dirty="0" err="1">
                <a:solidFill>
                  <a:srgbClr val="FF0000"/>
                </a:solidFill>
              </a:rPr>
              <a:t>quality</a:t>
            </a:r>
            <a:r>
              <a:rPr lang="pl-PL" b="1" dirty="0">
                <a:solidFill>
                  <a:srgbClr val="FF0000"/>
                </a:solidFill>
              </a:rPr>
              <a:t> &amp; </a:t>
            </a:r>
            <a:r>
              <a:rPr lang="pl-PL" b="1" dirty="0" err="1">
                <a:solidFill>
                  <a:srgbClr val="FF0000"/>
                </a:solidFill>
              </a:rPr>
              <a:t>sequence</a:t>
            </a:r>
            <a:r>
              <a:rPr lang="pl-PL" b="1" dirty="0">
                <a:solidFill>
                  <a:srgbClr val="FF0000"/>
                </a:solidFill>
              </a:rPr>
              <a:t> - </a:t>
            </a:r>
            <a:r>
              <a:rPr lang="pl-PL" b="1" dirty="0" err="1">
                <a:solidFill>
                  <a:srgbClr val="FF0000"/>
                </a:solidFill>
              </a:rPr>
              <a:t>adpater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removal</a:t>
            </a:r>
            <a:endParaRPr lang="pl-PL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pl-PL" b="1" dirty="0"/>
              <a:t>4.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5. </a:t>
            </a:r>
            <a:r>
              <a:rPr lang="pl-PL" b="1" dirty="0" err="1"/>
              <a:t>Alignment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Bowtie2 to hg38 </a:t>
            </a:r>
            <a:r>
              <a:rPr lang="pl-PL" b="1" dirty="0" err="1"/>
              <a:t>genome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6. </a:t>
            </a:r>
            <a:r>
              <a:rPr lang="pl-PL" b="1" dirty="0" err="1"/>
              <a:t>Removal</a:t>
            </a:r>
            <a:r>
              <a:rPr lang="pl-PL" b="1" dirty="0"/>
              <a:t> of </a:t>
            </a:r>
            <a:r>
              <a:rPr lang="pl-PL" b="1" dirty="0" err="1"/>
              <a:t>read</a:t>
            </a:r>
            <a:r>
              <a:rPr lang="pl-PL" b="1" dirty="0"/>
              <a:t> </a:t>
            </a:r>
            <a:r>
              <a:rPr lang="pl-PL" b="1" dirty="0" err="1"/>
              <a:t>duplicates</a:t>
            </a:r>
            <a:r>
              <a:rPr lang="pl-PL" b="1" dirty="0"/>
              <a:t> with </a:t>
            </a:r>
            <a:r>
              <a:rPr lang="pl-PL" b="1" dirty="0" err="1"/>
              <a:t>picard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7.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coverages</a:t>
            </a:r>
            <a:r>
              <a:rPr lang="pl-PL" b="1" dirty="0"/>
              <a:t>, </a:t>
            </a:r>
            <a:r>
              <a:rPr lang="pl-PL" b="1" dirty="0" err="1"/>
              <a:t>rpm</a:t>
            </a:r>
            <a:r>
              <a:rPr lang="pl-PL" b="1" dirty="0"/>
              <a:t> </a:t>
            </a:r>
            <a:r>
              <a:rPr lang="pl-PL" b="1" dirty="0" err="1"/>
              <a:t>normalization</a:t>
            </a:r>
            <a:r>
              <a:rPr lang="pl-PL" b="1" dirty="0"/>
              <a:t> and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bedGraph</a:t>
            </a:r>
            <a:r>
              <a:rPr lang="pl-PL" b="1" dirty="0"/>
              <a:t> &amp;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8.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generic</a:t>
            </a:r>
            <a:r>
              <a:rPr lang="pl-PL" b="1" dirty="0"/>
              <a:t> UCSC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track</a:t>
            </a:r>
            <a:r>
              <a:rPr lang="pl-PL" b="1" dirty="0"/>
              <a:t> lines</a:t>
            </a:r>
          </a:p>
          <a:p>
            <a:pPr>
              <a:lnSpc>
                <a:spcPct val="150000"/>
              </a:lnSpc>
            </a:pPr>
            <a:r>
              <a:rPr lang="pl-PL" b="1" dirty="0"/>
              <a:t>9. </a:t>
            </a:r>
            <a:r>
              <a:rPr lang="pl-PL" b="1" dirty="0" err="1"/>
              <a:t>Generating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report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10. </a:t>
            </a:r>
            <a:r>
              <a:rPr lang="pl-PL" b="1" dirty="0" err="1"/>
              <a:t>Generating</a:t>
            </a:r>
            <a:r>
              <a:rPr lang="pl-PL" b="1" dirty="0"/>
              <a:t> report with </a:t>
            </a:r>
            <a:r>
              <a:rPr lang="pl-PL" b="1" dirty="0" err="1"/>
              <a:t>summary</a:t>
            </a:r>
            <a:r>
              <a:rPr lang="pl-PL" b="1" dirty="0"/>
              <a:t> of </a:t>
            </a:r>
            <a:r>
              <a:rPr lang="pl-PL" b="1" dirty="0" err="1"/>
              <a:t>multiqc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of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, </a:t>
            </a:r>
            <a:r>
              <a:rPr lang="pl-PL" b="1" dirty="0" err="1"/>
              <a:t>trimming</a:t>
            </a:r>
            <a:r>
              <a:rPr lang="pl-PL" b="1" dirty="0"/>
              <a:t>, </a:t>
            </a:r>
            <a:r>
              <a:rPr lang="pl-PL" b="1" dirty="0" err="1"/>
              <a:t>aligmnet</a:t>
            </a:r>
            <a:r>
              <a:rPr lang="pl-PL" b="1" dirty="0"/>
              <a:t> and </a:t>
            </a:r>
            <a:r>
              <a:rPr lang="pl-PL" b="1" dirty="0" err="1"/>
              <a:t>deduplication</a:t>
            </a:r>
            <a:endParaRPr lang="pl-PL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DE2A0596-AA78-6579-DE36-D2BB3702C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82" y="3278203"/>
            <a:ext cx="5440217" cy="357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9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E86F-8C53-5CFA-0FA2-C1C2F93F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3EFCFA81-A967-3624-4185-E188267AB60A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451B0980-F337-ED7B-6EAD-509C305FDFE2}"/>
              </a:ext>
            </a:extLst>
          </p:cNvPr>
          <p:cNvSpPr txBox="1"/>
          <p:nvPr/>
        </p:nvSpPr>
        <p:spPr>
          <a:xfrm>
            <a:off x="0" y="89451"/>
            <a:ext cx="12191999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 err="1"/>
              <a:t>DNAfastqBigWig</a:t>
            </a:r>
            <a:r>
              <a:rPr lang="en-US" sz="2200" b="1" dirty="0"/>
              <a:t>: </a:t>
            </a:r>
            <a:r>
              <a:rPr lang="en-GB" sz="2200" b="1" dirty="0" err="1"/>
              <a:t>FastQC</a:t>
            </a:r>
            <a:r>
              <a:rPr lang="en-GB" sz="2200" b="1" dirty="0"/>
              <a:t> of trimmed FASTQ files</a:t>
            </a:r>
            <a:endParaRPr lang="pl-PL" sz="2200" b="1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9AA98A7-9D4F-018D-4A77-0F4CCDE9FFD9}"/>
              </a:ext>
            </a:extLst>
          </p:cNvPr>
          <p:cNvSpPr txBox="1"/>
          <p:nvPr/>
        </p:nvSpPr>
        <p:spPr>
          <a:xfrm>
            <a:off x="219074" y="1265176"/>
            <a:ext cx="9477376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1 </a:t>
            </a:r>
            <a:r>
              <a:rPr lang="pl-PL" b="1" dirty="0" err="1"/>
              <a:t>Workflow</a:t>
            </a:r>
            <a:r>
              <a:rPr lang="pl-PL" b="1" dirty="0"/>
              <a:t> </a:t>
            </a:r>
            <a:r>
              <a:rPr lang="pl-PL" b="1" dirty="0" err="1"/>
              <a:t>parts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folders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2.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unprocessed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3. </a:t>
            </a:r>
            <a:r>
              <a:rPr lang="pl-PL" b="1" dirty="0" err="1"/>
              <a:t>trimming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</a:t>
            </a:r>
            <a:r>
              <a:rPr lang="pl-PL" b="1" dirty="0" err="1"/>
              <a:t>TrmmGalore</a:t>
            </a:r>
            <a:r>
              <a:rPr lang="pl-PL" b="1" dirty="0"/>
              <a:t> </a:t>
            </a:r>
            <a:r>
              <a:rPr lang="pl-PL" b="1" dirty="0" err="1"/>
              <a:t>based</a:t>
            </a:r>
            <a:r>
              <a:rPr lang="pl-PL" b="1" dirty="0"/>
              <a:t> on </a:t>
            </a:r>
            <a:r>
              <a:rPr lang="pl-PL" b="1" dirty="0" err="1"/>
              <a:t>quality</a:t>
            </a:r>
            <a:r>
              <a:rPr lang="pl-PL" b="1" dirty="0"/>
              <a:t> &amp; </a:t>
            </a:r>
            <a:r>
              <a:rPr lang="pl-PL" b="1" dirty="0" err="1"/>
              <a:t>sequence</a:t>
            </a:r>
            <a:r>
              <a:rPr lang="pl-PL" b="1" dirty="0"/>
              <a:t> - </a:t>
            </a:r>
            <a:r>
              <a:rPr lang="pl-PL" b="1" dirty="0" err="1"/>
              <a:t>adpater</a:t>
            </a:r>
            <a:r>
              <a:rPr lang="pl-PL" b="1" dirty="0"/>
              <a:t> </a:t>
            </a:r>
            <a:r>
              <a:rPr lang="pl-PL" b="1" dirty="0" err="1"/>
              <a:t>removal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>
                <a:solidFill>
                  <a:srgbClr val="FF0000"/>
                </a:solidFill>
              </a:rPr>
              <a:t>4. </a:t>
            </a:r>
            <a:r>
              <a:rPr lang="pl-PL" b="1" dirty="0" err="1">
                <a:solidFill>
                  <a:srgbClr val="FF0000"/>
                </a:solidFill>
              </a:rPr>
              <a:t>Quality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control</a:t>
            </a:r>
            <a:r>
              <a:rPr lang="pl-PL" b="1" dirty="0">
                <a:solidFill>
                  <a:srgbClr val="FF0000"/>
                </a:solidFill>
              </a:rPr>
              <a:t> of </a:t>
            </a:r>
            <a:r>
              <a:rPr lang="pl-PL" b="1" dirty="0" err="1">
                <a:solidFill>
                  <a:srgbClr val="FF0000"/>
                </a:solidFill>
              </a:rPr>
              <a:t>trimmed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fastq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files</a:t>
            </a:r>
            <a:r>
              <a:rPr lang="pl-PL" b="1" dirty="0">
                <a:solidFill>
                  <a:srgbClr val="FF0000"/>
                </a:solidFill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5. </a:t>
            </a:r>
            <a:r>
              <a:rPr lang="pl-PL" b="1" dirty="0" err="1"/>
              <a:t>Alignment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Bowtie2 to hg38 </a:t>
            </a:r>
            <a:r>
              <a:rPr lang="pl-PL" b="1" dirty="0" err="1"/>
              <a:t>genome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6. </a:t>
            </a:r>
            <a:r>
              <a:rPr lang="pl-PL" b="1" dirty="0" err="1"/>
              <a:t>Removal</a:t>
            </a:r>
            <a:r>
              <a:rPr lang="pl-PL" b="1" dirty="0"/>
              <a:t> of </a:t>
            </a:r>
            <a:r>
              <a:rPr lang="pl-PL" b="1" dirty="0" err="1"/>
              <a:t>read</a:t>
            </a:r>
            <a:r>
              <a:rPr lang="pl-PL" b="1" dirty="0"/>
              <a:t> </a:t>
            </a:r>
            <a:r>
              <a:rPr lang="pl-PL" b="1" dirty="0" err="1"/>
              <a:t>duplicates</a:t>
            </a:r>
            <a:r>
              <a:rPr lang="pl-PL" b="1" dirty="0"/>
              <a:t> with </a:t>
            </a:r>
            <a:r>
              <a:rPr lang="pl-PL" b="1" dirty="0" err="1"/>
              <a:t>picard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7.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coverages</a:t>
            </a:r>
            <a:r>
              <a:rPr lang="pl-PL" b="1" dirty="0"/>
              <a:t>, </a:t>
            </a:r>
            <a:r>
              <a:rPr lang="pl-PL" b="1" dirty="0" err="1"/>
              <a:t>rpm</a:t>
            </a:r>
            <a:r>
              <a:rPr lang="pl-PL" b="1" dirty="0"/>
              <a:t> </a:t>
            </a:r>
            <a:r>
              <a:rPr lang="pl-PL" b="1" dirty="0" err="1"/>
              <a:t>normalization</a:t>
            </a:r>
            <a:r>
              <a:rPr lang="pl-PL" b="1" dirty="0"/>
              <a:t> and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bedGraph</a:t>
            </a:r>
            <a:r>
              <a:rPr lang="pl-PL" b="1" dirty="0"/>
              <a:t> &amp;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8.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generic</a:t>
            </a:r>
            <a:r>
              <a:rPr lang="pl-PL" b="1" dirty="0"/>
              <a:t> UCSC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track</a:t>
            </a:r>
            <a:r>
              <a:rPr lang="pl-PL" b="1" dirty="0"/>
              <a:t> lines</a:t>
            </a:r>
          </a:p>
          <a:p>
            <a:pPr>
              <a:lnSpc>
                <a:spcPct val="150000"/>
              </a:lnSpc>
            </a:pPr>
            <a:r>
              <a:rPr lang="pl-PL" b="1" dirty="0"/>
              <a:t>9. </a:t>
            </a:r>
            <a:r>
              <a:rPr lang="pl-PL" b="1" dirty="0" err="1"/>
              <a:t>Generating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report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10. </a:t>
            </a:r>
            <a:r>
              <a:rPr lang="pl-PL" b="1" dirty="0" err="1"/>
              <a:t>Generating</a:t>
            </a:r>
            <a:r>
              <a:rPr lang="pl-PL" b="1" dirty="0"/>
              <a:t> report with </a:t>
            </a:r>
            <a:r>
              <a:rPr lang="pl-PL" b="1" dirty="0" err="1"/>
              <a:t>summary</a:t>
            </a:r>
            <a:r>
              <a:rPr lang="pl-PL" b="1" dirty="0"/>
              <a:t> of </a:t>
            </a:r>
            <a:r>
              <a:rPr lang="pl-PL" b="1" dirty="0" err="1"/>
              <a:t>multiqc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of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, </a:t>
            </a:r>
            <a:r>
              <a:rPr lang="pl-PL" b="1" dirty="0" err="1"/>
              <a:t>trimming</a:t>
            </a:r>
            <a:r>
              <a:rPr lang="pl-PL" b="1" dirty="0"/>
              <a:t>, </a:t>
            </a:r>
            <a:r>
              <a:rPr lang="pl-PL" b="1" dirty="0" err="1"/>
              <a:t>aligmnet</a:t>
            </a:r>
            <a:r>
              <a:rPr lang="pl-PL" b="1" dirty="0"/>
              <a:t> and </a:t>
            </a:r>
            <a:r>
              <a:rPr lang="pl-PL" b="1" dirty="0" err="1"/>
              <a:t>deduplication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2817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28CFC-9E46-3698-0F5A-152F45C8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18224673-4F09-1D50-6B3B-8C3B4D1583E6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E3CCE280-D642-8F7C-BA71-9ACD6FAC4771}"/>
              </a:ext>
            </a:extLst>
          </p:cNvPr>
          <p:cNvSpPr txBox="1"/>
          <p:nvPr/>
        </p:nvSpPr>
        <p:spPr>
          <a:xfrm>
            <a:off x="838201" y="262069"/>
            <a:ext cx="11049000" cy="43088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  <a:r>
              <a:rPr lang="en-GB" sz="2200" b="1" dirty="0" err="1"/>
              <a:t>DNAfastqBigWig</a:t>
            </a:r>
            <a:r>
              <a:rPr lang="en-US" sz="2200" b="1" dirty="0"/>
              <a:t>: </a:t>
            </a:r>
            <a:r>
              <a:rPr lang="pl-PL" sz="2200" b="1" dirty="0" err="1"/>
              <a:t>Alignment</a:t>
            </a:r>
            <a:r>
              <a:rPr lang="pl-PL" sz="2200" b="1" dirty="0"/>
              <a:t> with Bowtie2</a:t>
            </a:r>
            <a:r>
              <a:rPr lang="en-US" sz="2200" b="1" dirty="0"/>
              <a:t> with</a:t>
            </a:r>
            <a:r>
              <a:rPr lang="pl-PL" sz="2200" b="1" dirty="0"/>
              <a:t> </a:t>
            </a:r>
            <a:r>
              <a:rPr lang="en-GB" sz="2200" b="1" dirty="0">
                <a:solidFill>
                  <a:srgbClr val="00B050"/>
                </a:solidFill>
              </a:rPr>
              <a:t>bowtie2_human_batch_v1_31aug.sh</a:t>
            </a:r>
            <a:endParaRPr lang="pl-PL" sz="2200" b="1" dirty="0">
              <a:solidFill>
                <a:srgbClr val="00B050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3F6F305-CC8A-F2B1-63E6-5A6217ACF3A2}"/>
              </a:ext>
            </a:extLst>
          </p:cNvPr>
          <p:cNvSpPr txBox="1"/>
          <p:nvPr/>
        </p:nvSpPr>
        <p:spPr>
          <a:xfrm>
            <a:off x="219074" y="1265176"/>
            <a:ext cx="9477376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# 1 </a:t>
            </a:r>
            <a:r>
              <a:rPr lang="pl-PL" b="1" dirty="0" err="1"/>
              <a:t>Workflow</a:t>
            </a:r>
            <a:r>
              <a:rPr lang="pl-PL" b="1" dirty="0"/>
              <a:t> </a:t>
            </a:r>
            <a:r>
              <a:rPr lang="pl-PL" b="1" dirty="0" err="1"/>
              <a:t>parts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folders</a:t>
            </a:r>
            <a:r>
              <a:rPr lang="pl-PL" b="1" dirty="0"/>
              <a:t>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2.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unprocessed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/>
              <a:t>3. </a:t>
            </a:r>
            <a:r>
              <a:rPr lang="pl-PL" b="1" dirty="0" err="1"/>
              <a:t>trimming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with </a:t>
            </a:r>
            <a:r>
              <a:rPr lang="pl-PL" b="1" dirty="0" err="1"/>
              <a:t>TrmmGalore</a:t>
            </a:r>
            <a:r>
              <a:rPr lang="pl-PL" b="1" dirty="0"/>
              <a:t> </a:t>
            </a:r>
            <a:r>
              <a:rPr lang="pl-PL" b="1" dirty="0" err="1"/>
              <a:t>based</a:t>
            </a:r>
            <a:r>
              <a:rPr lang="pl-PL" b="1" dirty="0"/>
              <a:t> on </a:t>
            </a:r>
            <a:r>
              <a:rPr lang="pl-PL" b="1" dirty="0" err="1"/>
              <a:t>quality</a:t>
            </a:r>
            <a:r>
              <a:rPr lang="pl-PL" b="1" dirty="0"/>
              <a:t> &amp; </a:t>
            </a:r>
            <a:r>
              <a:rPr lang="pl-PL" b="1" dirty="0" err="1"/>
              <a:t>sequence</a:t>
            </a:r>
            <a:r>
              <a:rPr lang="pl-PL" b="1" dirty="0"/>
              <a:t> - </a:t>
            </a:r>
            <a:r>
              <a:rPr lang="pl-PL" b="1" dirty="0" err="1"/>
              <a:t>adpater</a:t>
            </a:r>
            <a:r>
              <a:rPr lang="pl-PL" b="1" dirty="0"/>
              <a:t> </a:t>
            </a:r>
            <a:r>
              <a:rPr lang="pl-PL" b="1" dirty="0" err="1"/>
              <a:t>removal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4. </a:t>
            </a:r>
            <a:r>
              <a:rPr lang="pl-PL" b="1" dirty="0" err="1"/>
              <a:t>Quality</a:t>
            </a:r>
            <a:r>
              <a:rPr lang="pl-PL" b="1" dirty="0"/>
              <a:t> </a:t>
            </a:r>
            <a:r>
              <a:rPr lang="pl-PL" b="1" dirty="0" err="1"/>
              <a:t>control</a:t>
            </a:r>
            <a:r>
              <a:rPr lang="pl-PL" b="1" dirty="0"/>
              <a:t> of </a:t>
            </a:r>
            <a:r>
              <a:rPr lang="pl-PL" b="1" dirty="0" err="1"/>
              <a:t>trimmed</a:t>
            </a:r>
            <a:r>
              <a:rPr lang="pl-PL" b="1" dirty="0"/>
              <a:t>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 :</a:t>
            </a:r>
          </a:p>
          <a:p>
            <a:pPr>
              <a:lnSpc>
                <a:spcPct val="150000"/>
              </a:lnSpc>
            </a:pPr>
            <a:r>
              <a:rPr lang="pl-PL" b="1" dirty="0">
                <a:solidFill>
                  <a:srgbClr val="FF0000"/>
                </a:solidFill>
              </a:rPr>
              <a:t>5. </a:t>
            </a:r>
            <a:r>
              <a:rPr lang="pl-PL" b="1" dirty="0" err="1">
                <a:solidFill>
                  <a:srgbClr val="FF0000"/>
                </a:solidFill>
              </a:rPr>
              <a:t>Alignment</a:t>
            </a:r>
            <a:r>
              <a:rPr lang="pl-PL" b="1" dirty="0">
                <a:solidFill>
                  <a:srgbClr val="FF0000"/>
                </a:solidFill>
              </a:rPr>
              <a:t> of </a:t>
            </a:r>
            <a:r>
              <a:rPr lang="pl-PL" b="1" dirty="0" err="1">
                <a:solidFill>
                  <a:srgbClr val="FF0000"/>
                </a:solidFill>
              </a:rPr>
              <a:t>trimmed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fastq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b="1" dirty="0" err="1">
                <a:solidFill>
                  <a:srgbClr val="FF0000"/>
                </a:solidFill>
              </a:rPr>
              <a:t>files</a:t>
            </a:r>
            <a:r>
              <a:rPr lang="pl-PL" b="1" dirty="0">
                <a:solidFill>
                  <a:srgbClr val="FF0000"/>
                </a:solidFill>
              </a:rPr>
              <a:t> with Bowtie2 to hg38 </a:t>
            </a:r>
            <a:r>
              <a:rPr lang="pl-PL" b="1" dirty="0" err="1">
                <a:solidFill>
                  <a:srgbClr val="FF0000"/>
                </a:solidFill>
              </a:rPr>
              <a:t>genome</a:t>
            </a:r>
            <a:endParaRPr lang="pl-PL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pl-PL" b="1" dirty="0"/>
              <a:t>6. </a:t>
            </a:r>
            <a:r>
              <a:rPr lang="pl-PL" b="1" dirty="0" err="1"/>
              <a:t>Removal</a:t>
            </a:r>
            <a:r>
              <a:rPr lang="pl-PL" b="1" dirty="0"/>
              <a:t> of </a:t>
            </a:r>
            <a:r>
              <a:rPr lang="pl-PL" b="1" dirty="0" err="1"/>
              <a:t>read</a:t>
            </a:r>
            <a:r>
              <a:rPr lang="pl-PL" b="1" dirty="0"/>
              <a:t> </a:t>
            </a:r>
            <a:r>
              <a:rPr lang="pl-PL" b="1" dirty="0" err="1"/>
              <a:t>duplicates</a:t>
            </a:r>
            <a:r>
              <a:rPr lang="pl-PL" b="1" dirty="0"/>
              <a:t> with </a:t>
            </a:r>
            <a:r>
              <a:rPr lang="pl-PL" b="1" dirty="0" err="1"/>
              <a:t>picard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7.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coverages</a:t>
            </a:r>
            <a:r>
              <a:rPr lang="pl-PL" b="1" dirty="0"/>
              <a:t>, </a:t>
            </a:r>
            <a:r>
              <a:rPr lang="pl-PL" b="1" dirty="0" err="1"/>
              <a:t>rpm</a:t>
            </a:r>
            <a:r>
              <a:rPr lang="pl-PL" b="1" dirty="0"/>
              <a:t> </a:t>
            </a:r>
            <a:r>
              <a:rPr lang="pl-PL" b="1" dirty="0" err="1"/>
              <a:t>normalization</a:t>
            </a:r>
            <a:r>
              <a:rPr lang="pl-PL" b="1" dirty="0"/>
              <a:t> and </a:t>
            </a:r>
            <a:r>
              <a:rPr lang="pl-PL" b="1" dirty="0" err="1"/>
              <a:t>generation</a:t>
            </a:r>
            <a:r>
              <a:rPr lang="pl-PL" b="1" dirty="0"/>
              <a:t> of </a:t>
            </a:r>
            <a:r>
              <a:rPr lang="pl-PL" b="1" dirty="0" err="1"/>
              <a:t>bedGraph</a:t>
            </a:r>
            <a:r>
              <a:rPr lang="pl-PL" b="1" dirty="0"/>
              <a:t> &amp;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endParaRPr lang="pl-PL" b="1" dirty="0"/>
          </a:p>
          <a:p>
            <a:pPr>
              <a:lnSpc>
                <a:spcPct val="150000"/>
              </a:lnSpc>
            </a:pPr>
            <a:r>
              <a:rPr lang="pl-PL" b="1" dirty="0"/>
              <a:t>8. </a:t>
            </a:r>
            <a:r>
              <a:rPr lang="pl-PL" b="1" dirty="0" err="1"/>
              <a:t>Creating</a:t>
            </a:r>
            <a:r>
              <a:rPr lang="pl-PL" b="1" dirty="0"/>
              <a:t> </a:t>
            </a:r>
            <a:r>
              <a:rPr lang="pl-PL" b="1" dirty="0" err="1"/>
              <a:t>generic</a:t>
            </a:r>
            <a:r>
              <a:rPr lang="pl-PL" b="1" dirty="0"/>
              <a:t> UCSC </a:t>
            </a:r>
            <a:r>
              <a:rPr lang="pl-PL" b="1" dirty="0" err="1"/>
              <a:t>bigwig</a:t>
            </a:r>
            <a:r>
              <a:rPr lang="pl-PL" b="1" dirty="0"/>
              <a:t> </a:t>
            </a:r>
            <a:r>
              <a:rPr lang="pl-PL" b="1" dirty="0" err="1"/>
              <a:t>track</a:t>
            </a:r>
            <a:r>
              <a:rPr lang="pl-PL" b="1" dirty="0"/>
              <a:t> lines</a:t>
            </a:r>
          </a:p>
          <a:p>
            <a:pPr>
              <a:lnSpc>
                <a:spcPct val="150000"/>
              </a:lnSpc>
            </a:pPr>
            <a:r>
              <a:rPr lang="pl-PL" b="1" dirty="0"/>
              <a:t>9. </a:t>
            </a:r>
            <a:r>
              <a:rPr lang="pl-PL" b="1" dirty="0" err="1"/>
              <a:t>Generating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report</a:t>
            </a:r>
          </a:p>
          <a:p>
            <a:pPr>
              <a:lnSpc>
                <a:spcPct val="150000"/>
              </a:lnSpc>
            </a:pPr>
            <a:r>
              <a:rPr lang="pl-PL" b="1" dirty="0"/>
              <a:t>10. </a:t>
            </a:r>
            <a:r>
              <a:rPr lang="pl-PL" b="1" dirty="0" err="1"/>
              <a:t>Generating</a:t>
            </a:r>
            <a:r>
              <a:rPr lang="pl-PL" b="1" dirty="0"/>
              <a:t> report with </a:t>
            </a:r>
            <a:r>
              <a:rPr lang="pl-PL" b="1" dirty="0" err="1"/>
              <a:t>summary</a:t>
            </a:r>
            <a:r>
              <a:rPr lang="pl-PL" b="1" dirty="0"/>
              <a:t> of </a:t>
            </a:r>
            <a:r>
              <a:rPr lang="pl-PL" b="1" dirty="0" err="1"/>
              <a:t>multiqc</a:t>
            </a:r>
            <a:r>
              <a:rPr lang="pl-PL" b="1" dirty="0"/>
              <a:t> </a:t>
            </a:r>
            <a:r>
              <a:rPr lang="pl-PL" b="1" dirty="0" err="1"/>
              <a:t>analysis</a:t>
            </a:r>
            <a:r>
              <a:rPr lang="pl-PL" b="1" dirty="0"/>
              <a:t> of </a:t>
            </a:r>
            <a:r>
              <a:rPr lang="pl-PL" b="1" dirty="0" err="1"/>
              <a:t>fastq</a:t>
            </a:r>
            <a:r>
              <a:rPr lang="pl-PL" b="1" dirty="0"/>
              <a:t> </a:t>
            </a:r>
            <a:r>
              <a:rPr lang="pl-PL" b="1" dirty="0" err="1"/>
              <a:t>files</a:t>
            </a:r>
            <a:r>
              <a:rPr lang="pl-PL" b="1" dirty="0"/>
              <a:t>, </a:t>
            </a:r>
            <a:r>
              <a:rPr lang="pl-PL" b="1" dirty="0" err="1"/>
              <a:t>trimming</a:t>
            </a:r>
            <a:r>
              <a:rPr lang="pl-PL" b="1" dirty="0"/>
              <a:t>, </a:t>
            </a:r>
            <a:r>
              <a:rPr lang="pl-PL" b="1" dirty="0" err="1"/>
              <a:t>aligmnet</a:t>
            </a:r>
            <a:r>
              <a:rPr lang="pl-PL" b="1" dirty="0"/>
              <a:t> and </a:t>
            </a:r>
            <a:r>
              <a:rPr lang="pl-PL" b="1" dirty="0" err="1"/>
              <a:t>deduplication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F5F4B58-903F-5088-9C03-F53166B4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37" y="1057217"/>
            <a:ext cx="5356393" cy="114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8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F814-D080-0A9C-4436-402EA3DB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971E4DA1-24C3-DCD4-43BE-EA55188DD7AA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46F0C61-84A1-FBE9-08BD-9116D60B135A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reports</a:t>
            </a:r>
            <a:endParaRPr lang="pl-PL" sz="2200" b="1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E126C21-76A9-F46D-81DD-DDAAE56770F9}"/>
              </a:ext>
            </a:extLst>
          </p:cNvPr>
          <p:cNvSpPr txBox="1"/>
          <p:nvPr/>
        </p:nvSpPr>
        <p:spPr>
          <a:xfrm>
            <a:off x="1151689" y="3105834"/>
            <a:ext cx="10752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reports</a:t>
            </a:r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1099116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EF20A68-554E-890A-B93C-1DFC9C89E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542" r="69967"/>
          <a:stretch>
            <a:fillRect/>
          </a:stretch>
        </p:blipFill>
        <p:spPr>
          <a:xfrm>
            <a:off x="84768" y="1328514"/>
            <a:ext cx="2771775" cy="70866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CACEC7C-191C-CE38-A10C-D81A0429488D}"/>
              </a:ext>
            </a:extLst>
          </p:cNvPr>
          <p:cNvSpPr txBox="1"/>
          <p:nvPr/>
        </p:nvSpPr>
        <p:spPr>
          <a:xfrm>
            <a:off x="219075" y="1999664"/>
            <a:ext cx="8985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dirty="0">
                <a:hlinkClick r:id="rId3" action="ppaction://hlinkfile"/>
              </a:rPr>
              <a:t>file:///D:/bioinformatics/github/thirdRunAug2025/multiQC_current/multiQC/multiQC_unTrimmed/multiQC_unTrimmed.html</a:t>
            </a:r>
            <a:r>
              <a:rPr lang="pl-PL" sz="1200" dirty="0"/>
              <a:t>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378D49EE-54D8-E08C-5640-D1F9D981B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902" b="75572"/>
          <a:stretch>
            <a:fillRect/>
          </a:stretch>
        </p:blipFill>
        <p:spPr>
          <a:xfrm>
            <a:off x="84768" y="3318370"/>
            <a:ext cx="2856543" cy="54771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4FDE02E8-58B7-B67E-A707-D805FB66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215" r="65746" b="54423"/>
          <a:stretch>
            <a:fillRect/>
          </a:stretch>
        </p:blipFill>
        <p:spPr>
          <a:xfrm>
            <a:off x="43842" y="4400864"/>
            <a:ext cx="2985198" cy="369332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0BAAE83F-4B64-A059-4110-74091E85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792" r="72614" b="31153"/>
          <a:stretch>
            <a:fillRect/>
          </a:stretch>
        </p:blipFill>
        <p:spPr>
          <a:xfrm>
            <a:off x="84768" y="2404331"/>
            <a:ext cx="2529841" cy="407107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E2072C3-2853-6D6B-B833-67F7520D2474}"/>
              </a:ext>
            </a:extLst>
          </p:cNvPr>
          <p:cNvSpPr txBox="1"/>
          <p:nvPr/>
        </p:nvSpPr>
        <p:spPr>
          <a:xfrm>
            <a:off x="219075" y="2960779"/>
            <a:ext cx="8543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l-PL"/>
            </a:defPPr>
            <a:lvl1pPr>
              <a:defRPr sz="1200"/>
            </a:lvl1pPr>
          </a:lstStyle>
          <a:p>
            <a:r>
              <a:rPr lang="pl-PL" dirty="0">
                <a:hlinkClick r:id="rId4" action="ppaction://hlinkfile"/>
              </a:rPr>
              <a:t>file:///D:/bioinformatics/github/thirdRunAug2025/multiQC_current/multiQC/multiQC_trimmed/multiQC_trimmed.html</a:t>
            </a:r>
            <a:r>
              <a:rPr lang="en-GB" dirty="0"/>
              <a:t> </a:t>
            </a:r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7DDF5599-52E3-F4DD-AC01-8A46D9D1BDD6}"/>
              </a:ext>
            </a:extLst>
          </p:cNvPr>
          <p:cNvSpPr txBox="1"/>
          <p:nvPr/>
        </p:nvSpPr>
        <p:spPr>
          <a:xfrm>
            <a:off x="219075" y="3922742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l-PL"/>
            </a:defPPr>
            <a:lvl1pPr>
              <a:defRPr sz="1200"/>
            </a:lvl1pPr>
          </a:lstStyle>
          <a:p>
            <a:r>
              <a:rPr lang="pl-PL" dirty="0">
                <a:hlinkClick r:id="rId5" action="ppaction://hlinkfile"/>
              </a:rPr>
              <a:t>file:///D:/bioinformatics/github/thirdRunAug2025/multiQC_current/multiQC/multiQC_alignments/multiQC_aligments.html</a:t>
            </a:r>
            <a:r>
              <a:rPr lang="en-GB" dirty="0"/>
              <a:t> </a:t>
            </a:r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701B1B4-4D33-281A-FA2D-6D43A98D9837}"/>
              </a:ext>
            </a:extLst>
          </p:cNvPr>
          <p:cNvSpPr txBox="1"/>
          <p:nvPr/>
        </p:nvSpPr>
        <p:spPr>
          <a:xfrm>
            <a:off x="219075" y="5036624"/>
            <a:ext cx="8985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l-PL"/>
            </a:defPPr>
            <a:lvl1pPr>
              <a:defRPr sz="1200"/>
            </a:lvl1pPr>
          </a:lstStyle>
          <a:p>
            <a:r>
              <a:rPr lang="pl-PL" dirty="0">
                <a:hlinkClick r:id="rId6" action="ppaction://hlinkfile"/>
              </a:rPr>
              <a:t>file:///D:/bioinformatics/github/thirdRunAug2025/multiQC_current/multiQC/multiQC_deduplication/multiQC_deduplication.html</a:t>
            </a:r>
            <a:r>
              <a:rPr lang="en-GB" dirty="0"/>
              <a:t> </a:t>
            </a:r>
            <a:endParaRPr lang="pl-PL" dirty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D6DCB4AF-98B6-4C42-B5F1-5A1E21ED4AB1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1ED7615F-BA8E-8F6F-99F5-D72321624778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pl-PL" sz="2200" b="1" dirty="0"/>
              <a:t>Full </a:t>
            </a:r>
            <a:r>
              <a:rPr lang="en-GB" sz="2200" b="1" dirty="0" err="1"/>
              <a:t>MultiQC</a:t>
            </a:r>
            <a:r>
              <a:rPr lang="pl-PL" sz="2200" b="1" dirty="0"/>
              <a:t> </a:t>
            </a:r>
            <a:r>
              <a:rPr lang="pl-PL" sz="2200" b="1" dirty="0" err="1"/>
              <a:t>reports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227004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212C5-F6DA-BEB4-54E5-D2E141DB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a 26">
            <a:extLst>
              <a:ext uri="{FF2B5EF4-FFF2-40B4-BE49-F238E27FC236}">
                <a16:creationId xmlns:a16="http://schemas.microsoft.com/office/drawing/2014/main" id="{61FF04C8-88FA-3372-919C-5DFCA0993E7B}"/>
              </a:ext>
            </a:extLst>
          </p:cNvPr>
          <p:cNvGrpSpPr/>
          <p:nvPr/>
        </p:nvGrpSpPr>
        <p:grpSpPr>
          <a:xfrm>
            <a:off x="996805" y="1083809"/>
            <a:ext cx="4946379" cy="5242832"/>
            <a:chOff x="5261108" y="1013340"/>
            <a:chExt cx="4946379" cy="5242832"/>
          </a:xfrm>
        </p:grpSpPr>
        <p:grpSp>
          <p:nvGrpSpPr>
            <p:cNvPr id="21" name="Grupa 20">
              <a:extLst>
                <a:ext uri="{FF2B5EF4-FFF2-40B4-BE49-F238E27FC236}">
                  <a16:creationId xmlns:a16="http://schemas.microsoft.com/office/drawing/2014/main" id="{234B5CC6-EE08-63FB-B340-32BAECDCB7F6}"/>
                </a:ext>
              </a:extLst>
            </p:cNvPr>
            <p:cNvGrpSpPr/>
            <p:nvPr/>
          </p:nvGrpSpPr>
          <p:grpSpPr>
            <a:xfrm>
              <a:off x="5261108" y="1013340"/>
              <a:ext cx="4240703" cy="5242832"/>
              <a:chOff x="6652587" y="1013340"/>
              <a:chExt cx="4240703" cy="5242832"/>
            </a:xfrm>
          </p:grpSpPr>
          <p:sp>
            <p:nvSpPr>
              <p:cNvPr id="7" name="Prostokąt 6">
                <a:extLst>
                  <a:ext uri="{FF2B5EF4-FFF2-40B4-BE49-F238E27FC236}">
                    <a16:creationId xmlns:a16="http://schemas.microsoft.com/office/drawing/2014/main" id="{CB0FA9F4-0F36-6593-F05C-58E091DC6462}"/>
                  </a:ext>
                </a:extLst>
              </p:cNvPr>
              <p:cNvSpPr/>
              <p:nvPr/>
            </p:nvSpPr>
            <p:spPr>
              <a:xfrm>
                <a:off x="7982777" y="1013340"/>
                <a:ext cx="154056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Reads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FASTQ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8" name="Prostokąt 7">
                <a:extLst>
                  <a:ext uri="{FF2B5EF4-FFF2-40B4-BE49-F238E27FC236}">
                    <a16:creationId xmlns:a16="http://schemas.microsoft.com/office/drawing/2014/main" id="{42D13923-1C3B-7D39-EC3B-BCF260A3310B}"/>
                  </a:ext>
                </a:extLst>
              </p:cNvPr>
              <p:cNvSpPr/>
              <p:nvPr/>
            </p:nvSpPr>
            <p:spPr>
              <a:xfrm>
                <a:off x="7828719" y="1825590"/>
                <a:ext cx="18486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Trimmed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FASTQ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28A6C141-628F-F322-907D-A76DFCC3DCB7}"/>
                  </a:ext>
                </a:extLst>
              </p:cNvPr>
              <p:cNvSpPr/>
              <p:nvPr/>
            </p:nvSpPr>
            <p:spPr>
              <a:xfrm>
                <a:off x="7391400" y="2637840"/>
                <a:ext cx="276307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Alignments </a:t>
                </a:r>
                <a:r>
                  <a:rPr lang="en-GB" b="1" i="1" dirty="0">
                    <a:solidFill>
                      <a:schemeClr val="tx1"/>
                    </a:solidFill>
                  </a:rPr>
                  <a:t>BAM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Prostokąt 9">
                <a:extLst>
                  <a:ext uri="{FF2B5EF4-FFF2-40B4-BE49-F238E27FC236}">
                    <a16:creationId xmlns:a16="http://schemas.microsoft.com/office/drawing/2014/main" id="{35003B98-CB02-0316-878B-7140E5976413}"/>
                  </a:ext>
                </a:extLst>
              </p:cNvPr>
              <p:cNvSpPr/>
              <p:nvPr/>
            </p:nvSpPr>
            <p:spPr>
              <a:xfrm>
                <a:off x="7502387" y="3450090"/>
                <a:ext cx="25411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Deduplicated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BAM</a:t>
                </a:r>
              </a:p>
            </p:txBody>
          </p:sp>
          <p:sp>
            <p:nvSpPr>
              <p:cNvPr id="11" name="Prostokąt 10">
                <a:extLst>
                  <a:ext uri="{FF2B5EF4-FFF2-40B4-BE49-F238E27FC236}">
                    <a16:creationId xmlns:a16="http://schemas.microsoft.com/office/drawing/2014/main" id="{33FFFEF4-EEAF-DAAE-AB84-34C6435F6301}"/>
                  </a:ext>
                </a:extLst>
              </p:cNvPr>
              <p:cNvSpPr/>
              <p:nvPr/>
            </p:nvSpPr>
            <p:spPr>
              <a:xfrm>
                <a:off x="7174392" y="4262340"/>
                <a:ext cx="3177211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Coverage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Prostokąt 11">
                <a:extLst>
                  <a:ext uri="{FF2B5EF4-FFF2-40B4-BE49-F238E27FC236}">
                    <a16:creationId xmlns:a16="http://schemas.microsoft.com/office/drawing/2014/main" id="{0A1420DA-3882-4A98-D30E-6274C51A444C}"/>
                  </a:ext>
                </a:extLst>
              </p:cNvPr>
              <p:cNvSpPr/>
              <p:nvPr/>
            </p:nvSpPr>
            <p:spPr>
              <a:xfrm>
                <a:off x="6652587" y="507459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Read-depth normalised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Prostokąt 12">
                <a:extLst>
                  <a:ext uri="{FF2B5EF4-FFF2-40B4-BE49-F238E27FC236}">
                    <a16:creationId xmlns:a16="http://schemas.microsoft.com/office/drawing/2014/main" id="{C1435381-4D33-7BF8-CB09-7FDA230A18C7}"/>
                  </a:ext>
                </a:extLst>
              </p:cNvPr>
              <p:cNvSpPr/>
              <p:nvPr/>
            </p:nvSpPr>
            <p:spPr>
              <a:xfrm>
                <a:off x="6672468" y="588684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Indexed Binary Coverage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BigWig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Strzałka: w dół 13">
                <a:extLst>
                  <a:ext uri="{FF2B5EF4-FFF2-40B4-BE49-F238E27FC236}">
                    <a16:creationId xmlns:a16="http://schemas.microsoft.com/office/drawing/2014/main" id="{4DE7E22F-8D3A-7907-B2C7-30D9758F97F9}"/>
                  </a:ext>
                </a:extLst>
              </p:cNvPr>
              <p:cNvSpPr/>
              <p:nvPr/>
            </p:nvSpPr>
            <p:spPr>
              <a:xfrm>
                <a:off x="8653667" y="1487373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5" name="Strzałka: w dół 14">
                <a:extLst>
                  <a:ext uri="{FF2B5EF4-FFF2-40B4-BE49-F238E27FC236}">
                    <a16:creationId xmlns:a16="http://schemas.microsoft.com/office/drawing/2014/main" id="{B5ED9604-3318-0B2F-4BCE-32EA46879467}"/>
                  </a:ext>
                </a:extLst>
              </p:cNvPr>
              <p:cNvSpPr/>
              <p:nvPr/>
            </p:nvSpPr>
            <p:spPr>
              <a:xfrm>
                <a:off x="8627165" y="2305694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6" name="Strzałka: w dół 15">
                <a:extLst>
                  <a:ext uri="{FF2B5EF4-FFF2-40B4-BE49-F238E27FC236}">
                    <a16:creationId xmlns:a16="http://schemas.microsoft.com/office/drawing/2014/main" id="{6AD7BD4D-CE87-120D-E4FC-E2540F17024A}"/>
                  </a:ext>
                </a:extLst>
              </p:cNvPr>
              <p:cNvSpPr/>
              <p:nvPr/>
            </p:nvSpPr>
            <p:spPr>
              <a:xfrm>
                <a:off x="8650358" y="3133955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7" name="Strzałka: w dół 16">
                <a:extLst>
                  <a:ext uri="{FF2B5EF4-FFF2-40B4-BE49-F238E27FC236}">
                    <a16:creationId xmlns:a16="http://schemas.microsoft.com/office/drawing/2014/main" id="{C39B2D9D-3A05-4426-16C6-BFFE966FBAC4}"/>
                  </a:ext>
                </a:extLst>
              </p:cNvPr>
              <p:cNvSpPr/>
              <p:nvPr/>
            </p:nvSpPr>
            <p:spPr>
              <a:xfrm>
                <a:off x="8650358" y="3929088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8" name="Strzałka: w dół 17">
                <a:extLst>
                  <a:ext uri="{FF2B5EF4-FFF2-40B4-BE49-F238E27FC236}">
                    <a16:creationId xmlns:a16="http://schemas.microsoft.com/office/drawing/2014/main" id="{C3C3F39D-4A21-59FC-202A-DF8917847030}"/>
                  </a:ext>
                </a:extLst>
              </p:cNvPr>
              <p:cNvSpPr/>
              <p:nvPr/>
            </p:nvSpPr>
            <p:spPr>
              <a:xfrm>
                <a:off x="8650358" y="4754029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9" name="Strzałka: w dół 18">
                <a:extLst>
                  <a:ext uri="{FF2B5EF4-FFF2-40B4-BE49-F238E27FC236}">
                    <a16:creationId xmlns:a16="http://schemas.microsoft.com/office/drawing/2014/main" id="{295FCD9E-96C7-2222-33CD-1BE7317DC028}"/>
                  </a:ext>
                </a:extLst>
              </p:cNvPr>
              <p:cNvSpPr/>
              <p:nvPr/>
            </p:nvSpPr>
            <p:spPr>
              <a:xfrm>
                <a:off x="8650358" y="5539221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0D61DE26-F71F-85D3-5DE8-7187A6002E8B}"/>
                </a:ext>
              </a:extLst>
            </p:cNvPr>
            <p:cNvSpPr txBox="1"/>
            <p:nvPr/>
          </p:nvSpPr>
          <p:spPr>
            <a:xfrm>
              <a:off x="7485094" y="1420722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TrimmGalore</a:t>
              </a:r>
              <a:endParaRPr lang="pl-PL" sz="1600" i="1" dirty="0"/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0BA618C7-7388-58E4-0D73-F4CB22D0FF27}"/>
                </a:ext>
              </a:extLst>
            </p:cNvPr>
            <p:cNvSpPr txBox="1"/>
            <p:nvPr/>
          </p:nvSpPr>
          <p:spPr>
            <a:xfrm>
              <a:off x="7485094" y="22471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Bowtie2</a:t>
              </a:r>
              <a:endParaRPr lang="pl-PL" sz="1600" i="1" dirty="0"/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7A044FD6-63C4-D414-76BB-2CAC50E1E991}"/>
                </a:ext>
              </a:extLst>
            </p:cNvPr>
            <p:cNvSpPr txBox="1"/>
            <p:nvPr/>
          </p:nvSpPr>
          <p:spPr>
            <a:xfrm>
              <a:off x="7516288" y="3066600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Picard</a:t>
              </a:r>
              <a:endParaRPr lang="pl-PL" sz="1600" i="1" dirty="0"/>
            </a:p>
          </p:txBody>
        </p: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0C362DF2-B97F-A9AB-9895-49C38F46BB36}"/>
                </a:ext>
              </a:extLst>
            </p:cNvPr>
            <p:cNvSpPr txBox="1"/>
            <p:nvPr/>
          </p:nvSpPr>
          <p:spPr>
            <a:xfrm>
              <a:off x="7502754" y="38607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5" name="pole tekstowe 24">
              <a:extLst>
                <a:ext uri="{FF2B5EF4-FFF2-40B4-BE49-F238E27FC236}">
                  <a16:creationId xmlns:a16="http://schemas.microsoft.com/office/drawing/2014/main" id="{3F17B02E-01C8-CA0C-2470-6602954C1162}"/>
                </a:ext>
              </a:extLst>
            </p:cNvPr>
            <p:cNvSpPr txBox="1"/>
            <p:nvPr/>
          </p:nvSpPr>
          <p:spPr>
            <a:xfrm>
              <a:off x="7495033" y="4671428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7CA383D5-A965-1F4C-E742-5C098909683C}"/>
                </a:ext>
              </a:extLst>
            </p:cNvPr>
            <p:cNvSpPr txBox="1"/>
            <p:nvPr/>
          </p:nvSpPr>
          <p:spPr>
            <a:xfrm>
              <a:off x="7499725" y="5482152"/>
              <a:ext cx="27077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Kentutills</a:t>
              </a:r>
              <a:r>
                <a:rPr lang="en-GB" sz="1600" i="1" dirty="0"/>
                <a:t>/ </a:t>
              </a:r>
              <a:r>
                <a:rPr lang="en-GB" sz="1600" i="1" dirty="0" err="1"/>
                <a:t>bedgraphToBigwig</a:t>
              </a:r>
              <a:endParaRPr lang="pl-PL" sz="1600" i="1" dirty="0"/>
            </a:p>
          </p:txBody>
        </p:sp>
      </p:grpSp>
      <p:grpSp>
        <p:nvGrpSpPr>
          <p:cNvPr id="52" name="Grupa 51">
            <a:extLst>
              <a:ext uri="{FF2B5EF4-FFF2-40B4-BE49-F238E27FC236}">
                <a16:creationId xmlns:a16="http://schemas.microsoft.com/office/drawing/2014/main" id="{E9E7B61B-3A8C-56CA-8CFC-04C3ABE665ED}"/>
              </a:ext>
            </a:extLst>
          </p:cNvPr>
          <p:cNvGrpSpPr/>
          <p:nvPr/>
        </p:nvGrpSpPr>
        <p:grpSpPr>
          <a:xfrm>
            <a:off x="4130943" y="950562"/>
            <a:ext cx="4829178" cy="2973905"/>
            <a:chOff x="4283759" y="674337"/>
            <a:chExt cx="4829178" cy="2973905"/>
          </a:xfrm>
        </p:grpSpPr>
        <p:sp>
          <p:nvSpPr>
            <p:cNvPr id="30" name="Prostokąt 29">
              <a:extLst>
                <a:ext uri="{FF2B5EF4-FFF2-40B4-BE49-F238E27FC236}">
                  <a16:creationId xmlns:a16="http://schemas.microsoft.com/office/drawing/2014/main" id="{5016A1A7-2E64-7354-C133-E9047086CEA7}"/>
                </a:ext>
              </a:extLst>
            </p:cNvPr>
            <p:cNvSpPr/>
            <p:nvPr/>
          </p:nvSpPr>
          <p:spPr>
            <a:xfrm>
              <a:off x="7568646" y="807584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2" name="Prostokąt 31">
              <a:extLst>
                <a:ext uri="{FF2B5EF4-FFF2-40B4-BE49-F238E27FC236}">
                  <a16:creationId xmlns:a16="http://schemas.microsoft.com/office/drawing/2014/main" id="{BE6181CF-D1B1-1F2D-6625-AF3E60214885}"/>
                </a:ext>
              </a:extLst>
            </p:cNvPr>
            <p:cNvSpPr/>
            <p:nvPr/>
          </p:nvSpPr>
          <p:spPr>
            <a:xfrm>
              <a:off x="7572375" y="1629242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3" name="Prostokąt 32">
              <a:extLst>
                <a:ext uri="{FF2B5EF4-FFF2-40B4-BE49-F238E27FC236}">
                  <a16:creationId xmlns:a16="http://schemas.microsoft.com/office/drawing/2014/main" id="{D53C0D36-96C3-BF03-DCE6-E0F9BF24C0C5}"/>
                </a:ext>
              </a:extLst>
            </p:cNvPr>
            <p:cNvSpPr/>
            <p:nvPr/>
          </p:nvSpPr>
          <p:spPr>
            <a:xfrm>
              <a:off x="7572375" y="2454537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D384189B-BF33-2779-EE04-454DD036C6C1}"/>
                </a:ext>
              </a:extLst>
            </p:cNvPr>
            <p:cNvSpPr/>
            <p:nvPr/>
          </p:nvSpPr>
          <p:spPr>
            <a:xfrm>
              <a:off x="7568646" y="3278910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Grupa 39">
              <a:extLst>
                <a:ext uri="{FF2B5EF4-FFF2-40B4-BE49-F238E27FC236}">
                  <a16:creationId xmlns:a16="http://schemas.microsoft.com/office/drawing/2014/main" id="{C0718FF5-2905-0089-BB3D-1DBA659354D8}"/>
                </a:ext>
              </a:extLst>
            </p:cNvPr>
            <p:cNvGrpSpPr/>
            <p:nvPr/>
          </p:nvGrpSpPr>
          <p:grpSpPr>
            <a:xfrm>
              <a:off x="4283759" y="674337"/>
              <a:ext cx="3140770" cy="338554"/>
              <a:chOff x="4174430" y="674337"/>
              <a:chExt cx="3140770" cy="338554"/>
            </a:xfrm>
          </p:grpSpPr>
          <p:cxnSp>
            <p:nvCxnSpPr>
              <p:cNvPr id="29" name="Łącznik prosty ze strzałką 28">
                <a:extLst>
                  <a:ext uri="{FF2B5EF4-FFF2-40B4-BE49-F238E27FC236}">
                    <a16:creationId xmlns:a16="http://schemas.microsoft.com/office/drawing/2014/main" id="{F49E8565-3894-FD2B-28A3-2813FC4D93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4430" y="992250"/>
                <a:ext cx="3140770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pole tekstowe 38">
                <a:extLst>
                  <a:ext uri="{FF2B5EF4-FFF2-40B4-BE49-F238E27FC236}">
                    <a16:creationId xmlns:a16="http://schemas.microsoft.com/office/drawing/2014/main" id="{21444477-3ECD-8CB6-4E0D-720D90FF953B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1" name="Grupa 40">
              <a:extLst>
                <a:ext uri="{FF2B5EF4-FFF2-40B4-BE49-F238E27FC236}">
                  <a16:creationId xmlns:a16="http://schemas.microsoft.com/office/drawing/2014/main" id="{0FBF4F49-7F01-D219-BD3B-01BD7AC53DF0}"/>
                </a:ext>
              </a:extLst>
            </p:cNvPr>
            <p:cNvGrpSpPr/>
            <p:nvPr/>
          </p:nvGrpSpPr>
          <p:grpSpPr>
            <a:xfrm>
              <a:off x="4432852" y="1500719"/>
              <a:ext cx="3010935" cy="338554"/>
              <a:chOff x="4304265" y="674337"/>
              <a:chExt cx="3010935" cy="338554"/>
            </a:xfrm>
          </p:grpSpPr>
          <p:cxnSp>
            <p:nvCxnSpPr>
              <p:cNvPr id="42" name="Łącznik prosty ze strzałką 41">
                <a:extLst>
                  <a:ext uri="{FF2B5EF4-FFF2-40B4-BE49-F238E27FC236}">
                    <a16:creationId xmlns:a16="http://schemas.microsoft.com/office/drawing/2014/main" id="{4695B563-5A02-0A1D-6DE3-35341D433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4265" y="978118"/>
                <a:ext cx="3010935" cy="1413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pole tekstowe 42">
                <a:extLst>
                  <a:ext uri="{FF2B5EF4-FFF2-40B4-BE49-F238E27FC236}">
                    <a16:creationId xmlns:a16="http://schemas.microsoft.com/office/drawing/2014/main" id="{245C2F66-4262-16E2-1389-7033809B2823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309D63E6-43E8-AD4C-5C7A-ABCEF7F6AE00}"/>
                </a:ext>
              </a:extLst>
            </p:cNvPr>
            <p:cNvGrpSpPr/>
            <p:nvPr/>
          </p:nvGrpSpPr>
          <p:grpSpPr>
            <a:xfrm>
              <a:off x="4879831" y="2388429"/>
              <a:ext cx="2535458" cy="338554"/>
              <a:chOff x="4779742" y="674337"/>
              <a:chExt cx="2535458" cy="338554"/>
            </a:xfrm>
          </p:grpSpPr>
          <p:cxnSp>
            <p:nvCxnSpPr>
              <p:cNvPr id="46" name="Łącznik prosty ze strzałką 45">
                <a:extLst>
                  <a:ext uri="{FF2B5EF4-FFF2-40B4-BE49-F238E27FC236}">
                    <a16:creationId xmlns:a16="http://schemas.microsoft.com/office/drawing/2014/main" id="{14645E55-62D3-4896-B1DC-A1C231C58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pole tekstowe 46">
                <a:extLst>
                  <a:ext uri="{FF2B5EF4-FFF2-40B4-BE49-F238E27FC236}">
                    <a16:creationId xmlns:a16="http://schemas.microsoft.com/office/drawing/2014/main" id="{A1201A2D-7D0E-B1DF-78FC-D351757E7F1E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AA212355-CF3D-F35C-D4FF-82E726E73889}"/>
                </a:ext>
              </a:extLst>
            </p:cNvPr>
            <p:cNvGrpSpPr/>
            <p:nvPr/>
          </p:nvGrpSpPr>
          <p:grpSpPr>
            <a:xfrm>
              <a:off x="4883146" y="3166992"/>
              <a:ext cx="2535458" cy="338554"/>
              <a:chOff x="4779742" y="674337"/>
              <a:chExt cx="2535458" cy="338554"/>
            </a:xfrm>
          </p:grpSpPr>
          <p:cxnSp>
            <p:nvCxnSpPr>
              <p:cNvPr id="50" name="Łącznik prosty ze strzałką 49">
                <a:extLst>
                  <a:ext uri="{FF2B5EF4-FFF2-40B4-BE49-F238E27FC236}">
                    <a16:creationId xmlns:a16="http://schemas.microsoft.com/office/drawing/2014/main" id="{BDE3E7B9-4C4B-91AB-DA34-E572356FF0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pole tekstowe 50">
                <a:extLst>
                  <a:ext uri="{FF2B5EF4-FFF2-40B4-BE49-F238E27FC236}">
                    <a16:creationId xmlns:a16="http://schemas.microsoft.com/office/drawing/2014/main" id="{C06A2C37-75F0-7412-0DED-E46614C61108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E7AA82F7-048D-EC46-9126-A049701052BD}"/>
              </a:ext>
            </a:extLst>
          </p:cNvPr>
          <p:cNvGrpSpPr/>
          <p:nvPr/>
        </p:nvGrpSpPr>
        <p:grpSpPr>
          <a:xfrm>
            <a:off x="9341129" y="1031597"/>
            <a:ext cx="2427371" cy="5488472"/>
            <a:chOff x="8798204" y="755372"/>
            <a:chExt cx="2427371" cy="5488472"/>
          </a:xfrm>
        </p:grpSpPr>
        <p:sp>
          <p:nvSpPr>
            <p:cNvPr id="53" name="Nawias klamrowy zamykający 52">
              <a:extLst>
                <a:ext uri="{FF2B5EF4-FFF2-40B4-BE49-F238E27FC236}">
                  <a16:creationId xmlns:a16="http://schemas.microsoft.com/office/drawing/2014/main" id="{1AAC1F44-2284-E6F8-26BA-55C4F0B01AAB}"/>
                </a:ext>
              </a:extLst>
            </p:cNvPr>
            <p:cNvSpPr/>
            <p:nvPr/>
          </p:nvSpPr>
          <p:spPr>
            <a:xfrm>
              <a:off x="8798204" y="755372"/>
              <a:ext cx="345798" cy="5488472"/>
            </a:xfrm>
            <a:prstGeom prst="rightBrace">
              <a:avLst>
                <a:gd name="adj1" fmla="val 8333"/>
                <a:gd name="adj2" fmla="val 50342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54" name="Prostokąt 53">
              <a:extLst>
                <a:ext uri="{FF2B5EF4-FFF2-40B4-BE49-F238E27FC236}">
                  <a16:creationId xmlns:a16="http://schemas.microsoft.com/office/drawing/2014/main" id="{EABEBDEB-6128-2473-C055-AB7C77415707}"/>
                </a:ext>
              </a:extLst>
            </p:cNvPr>
            <p:cNvSpPr/>
            <p:nvPr/>
          </p:nvSpPr>
          <p:spPr>
            <a:xfrm>
              <a:off x="9417389" y="3276224"/>
              <a:ext cx="1808186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FINAL REPORT</a:t>
              </a:r>
              <a:endParaRPr lang="pl-PL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BACBB6D1-5C8C-03A5-5583-012E9E93F52E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C8C28ECE-E2A5-B8BB-376D-9968C864951F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  <a:r>
              <a:rPr lang="pl-PL" sz="2200" b="1" dirty="0" err="1"/>
              <a:t>workflow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696938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7248E95-46AA-9729-CF5B-B5DBFB95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3" y="1076117"/>
            <a:ext cx="11083737" cy="5692432"/>
          </a:xfrm>
          <a:prstGeom prst="rect">
            <a:avLst/>
          </a:prstGeom>
        </p:spPr>
      </p:pic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6C27164B-909A-9181-6EA7-A6280D83A80C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6E449A2-F1D0-60E9-AA15-9BC52078133D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- summary</a:t>
            </a:r>
            <a:endParaRPr lang="pl-PL" sz="2200" b="1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E068BD55-ECCD-8998-4BA3-FA717BCA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349" t="10123" b="56711"/>
          <a:stretch>
            <a:fillRect/>
          </a:stretch>
        </p:blipFill>
        <p:spPr>
          <a:xfrm>
            <a:off x="5773182" y="3081121"/>
            <a:ext cx="6202669" cy="3687428"/>
          </a:xfrm>
          <a:prstGeom prst="rect">
            <a:avLst/>
          </a:prstGeom>
          <a:ln w="19050">
            <a:solidFill>
              <a:schemeClr val="tx1"/>
            </a:solidFill>
            <a:prstDash val="dashDot"/>
          </a:ln>
        </p:spPr>
      </p:pic>
    </p:spTree>
    <p:extLst>
      <p:ext uri="{BB962C8B-B14F-4D97-AF65-F5344CB8AC3E}">
        <p14:creationId xmlns:p14="http://schemas.microsoft.com/office/powerpoint/2010/main" val="1113446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B25C-D81B-A204-A724-E5EA3692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AF03D961-891C-318C-0BC4-193DF444BE6B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CA78280-E76E-7CA8-83EF-F850A06A951D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unique/dup sequence counts</a:t>
            </a:r>
            <a:endParaRPr lang="pl-PL" sz="2200" b="1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754846AF-065E-EE57-921D-141352F4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4663"/>
            <a:ext cx="12192000" cy="474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55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20AA-713B-5998-FF8D-F4106375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54FE5A88-D331-FDAC-A9D0-5EF70DF5487B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77EEE71-9A59-F1A0-416A-004E68CD23C8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per sequence GC content</a:t>
            </a:r>
            <a:endParaRPr lang="pl-PL" sz="2200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339C4F0-41F4-105D-A6FF-E63CC6271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133"/>
            <a:ext cx="12192000" cy="374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0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438F-A326-86C7-00E1-33044584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3FE72AB4-4B59-1900-A3F9-C8F37873B4F2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C0C4A03-FB27-37D3-5B36-EC18E3918292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overrepresented sequences</a:t>
            </a:r>
            <a:endParaRPr lang="pl-PL" sz="2200" b="1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A0898E1-C1D4-55E5-C08F-2911681F3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9872"/>
            <a:ext cx="12192000" cy="287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2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CBF5-57F9-64D1-7A9B-66C27F0C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5894B10-43FD-5CB0-1B05-12886D7E1F24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31B1FB7-1C85-1687-2A55-97832EC13E8A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Adapter content</a:t>
            </a:r>
            <a:endParaRPr lang="pl-PL" sz="2200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2BF8ADB-6832-D447-CDC6-AB38A448E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22"/>
          <a:stretch>
            <a:fillRect/>
          </a:stretch>
        </p:blipFill>
        <p:spPr>
          <a:xfrm>
            <a:off x="0" y="2273967"/>
            <a:ext cx="12192000" cy="290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38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D2A1-8901-4785-0368-C00CFDA6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2EE0F4ED-5B59-7D67-EE47-605D4138786E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20569D7-B350-4B57-A125-50FD50ABD37D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status checks</a:t>
            </a:r>
            <a:endParaRPr lang="pl-PL" sz="22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F5E6EB7-B1F3-0D5A-20FF-B7BCDDFB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960"/>
            <a:ext cx="12192000" cy="464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27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D57A-D3A1-71A6-F8C3-D66A20AB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a 26">
            <a:extLst>
              <a:ext uri="{FF2B5EF4-FFF2-40B4-BE49-F238E27FC236}">
                <a16:creationId xmlns:a16="http://schemas.microsoft.com/office/drawing/2014/main" id="{F3F5FBC2-573A-6A2B-79EA-667981AB5A7F}"/>
              </a:ext>
            </a:extLst>
          </p:cNvPr>
          <p:cNvGrpSpPr/>
          <p:nvPr/>
        </p:nvGrpSpPr>
        <p:grpSpPr>
          <a:xfrm>
            <a:off x="996805" y="1083809"/>
            <a:ext cx="4946379" cy="5242832"/>
            <a:chOff x="5261108" y="1013340"/>
            <a:chExt cx="4946379" cy="5242832"/>
          </a:xfrm>
        </p:grpSpPr>
        <p:grpSp>
          <p:nvGrpSpPr>
            <p:cNvPr id="21" name="Grupa 20">
              <a:extLst>
                <a:ext uri="{FF2B5EF4-FFF2-40B4-BE49-F238E27FC236}">
                  <a16:creationId xmlns:a16="http://schemas.microsoft.com/office/drawing/2014/main" id="{0F1F16C6-9BE4-5985-AC55-4D9C42959608}"/>
                </a:ext>
              </a:extLst>
            </p:cNvPr>
            <p:cNvGrpSpPr/>
            <p:nvPr/>
          </p:nvGrpSpPr>
          <p:grpSpPr>
            <a:xfrm>
              <a:off x="5261108" y="1013340"/>
              <a:ext cx="4240703" cy="5242832"/>
              <a:chOff x="6652587" y="1013340"/>
              <a:chExt cx="4240703" cy="5242832"/>
            </a:xfrm>
          </p:grpSpPr>
          <p:sp>
            <p:nvSpPr>
              <p:cNvPr id="7" name="Prostokąt 6">
                <a:extLst>
                  <a:ext uri="{FF2B5EF4-FFF2-40B4-BE49-F238E27FC236}">
                    <a16:creationId xmlns:a16="http://schemas.microsoft.com/office/drawing/2014/main" id="{3863E6EF-24FF-9634-F11F-DEBBC4FACD54}"/>
                  </a:ext>
                </a:extLst>
              </p:cNvPr>
              <p:cNvSpPr/>
              <p:nvPr/>
            </p:nvSpPr>
            <p:spPr>
              <a:xfrm>
                <a:off x="7982777" y="1013340"/>
                <a:ext cx="154056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Reads </a:t>
                </a:r>
                <a:r>
                  <a:rPr lang="pl-PL" dirty="0">
                    <a:solidFill>
                      <a:schemeClr val="tx1"/>
                    </a:solidFill>
                  </a:rPr>
                  <a:t>FASTQ </a:t>
                </a:r>
              </a:p>
            </p:txBody>
          </p:sp>
          <p:sp>
            <p:nvSpPr>
              <p:cNvPr id="8" name="Prostokąt 7">
                <a:extLst>
                  <a:ext uri="{FF2B5EF4-FFF2-40B4-BE49-F238E27FC236}">
                    <a16:creationId xmlns:a16="http://schemas.microsoft.com/office/drawing/2014/main" id="{B027B395-F5C4-C88C-10D2-CC826923E822}"/>
                  </a:ext>
                </a:extLst>
              </p:cNvPr>
              <p:cNvSpPr/>
              <p:nvPr/>
            </p:nvSpPr>
            <p:spPr>
              <a:xfrm>
                <a:off x="7828719" y="1825590"/>
                <a:ext cx="18486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Trimmed</a:t>
                </a:r>
                <a:r>
                  <a:rPr lang="pl-PL" dirty="0">
                    <a:solidFill>
                      <a:schemeClr val="tx1"/>
                    </a:solidFill>
                  </a:rPr>
                  <a:t> FASTQ </a:t>
                </a:r>
              </a:p>
            </p:txBody>
          </p:sp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4E8221C0-BB75-EAB4-70E8-E9A93B058B43}"/>
                  </a:ext>
                </a:extLst>
              </p:cNvPr>
              <p:cNvSpPr/>
              <p:nvPr/>
            </p:nvSpPr>
            <p:spPr>
              <a:xfrm>
                <a:off x="7391400" y="2637840"/>
                <a:ext cx="276307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Alignments </a:t>
                </a:r>
                <a:r>
                  <a:rPr lang="en-GB" b="1" i="1" dirty="0">
                    <a:solidFill>
                      <a:schemeClr val="tx1"/>
                    </a:solidFill>
                  </a:rPr>
                  <a:t>BAM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Prostokąt 9">
                <a:extLst>
                  <a:ext uri="{FF2B5EF4-FFF2-40B4-BE49-F238E27FC236}">
                    <a16:creationId xmlns:a16="http://schemas.microsoft.com/office/drawing/2014/main" id="{39985A26-A042-4F83-88E2-112B8B12337D}"/>
                  </a:ext>
                </a:extLst>
              </p:cNvPr>
              <p:cNvSpPr/>
              <p:nvPr/>
            </p:nvSpPr>
            <p:spPr>
              <a:xfrm>
                <a:off x="7502387" y="3450090"/>
                <a:ext cx="25411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Deduplicated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BAM</a:t>
                </a:r>
              </a:p>
            </p:txBody>
          </p:sp>
          <p:sp>
            <p:nvSpPr>
              <p:cNvPr id="11" name="Prostokąt 10">
                <a:extLst>
                  <a:ext uri="{FF2B5EF4-FFF2-40B4-BE49-F238E27FC236}">
                    <a16:creationId xmlns:a16="http://schemas.microsoft.com/office/drawing/2014/main" id="{DEBCF598-43CE-C775-95D5-470000ED2C38}"/>
                  </a:ext>
                </a:extLst>
              </p:cNvPr>
              <p:cNvSpPr/>
              <p:nvPr/>
            </p:nvSpPr>
            <p:spPr>
              <a:xfrm>
                <a:off x="7174392" y="4262340"/>
                <a:ext cx="3177211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Coverage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Prostokąt 11">
                <a:extLst>
                  <a:ext uri="{FF2B5EF4-FFF2-40B4-BE49-F238E27FC236}">
                    <a16:creationId xmlns:a16="http://schemas.microsoft.com/office/drawing/2014/main" id="{9582A945-CA1E-0B8B-57F7-30BB88EE14AB}"/>
                  </a:ext>
                </a:extLst>
              </p:cNvPr>
              <p:cNvSpPr/>
              <p:nvPr/>
            </p:nvSpPr>
            <p:spPr>
              <a:xfrm>
                <a:off x="6652587" y="507459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Read-depth normalised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Prostokąt 12">
                <a:extLst>
                  <a:ext uri="{FF2B5EF4-FFF2-40B4-BE49-F238E27FC236}">
                    <a16:creationId xmlns:a16="http://schemas.microsoft.com/office/drawing/2014/main" id="{0D9FB8E9-7204-6993-D24B-896075EDD524}"/>
                  </a:ext>
                </a:extLst>
              </p:cNvPr>
              <p:cNvSpPr/>
              <p:nvPr/>
            </p:nvSpPr>
            <p:spPr>
              <a:xfrm>
                <a:off x="6672468" y="588684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Indexed Binary Coverage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BigWig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Strzałka: w dół 13">
                <a:extLst>
                  <a:ext uri="{FF2B5EF4-FFF2-40B4-BE49-F238E27FC236}">
                    <a16:creationId xmlns:a16="http://schemas.microsoft.com/office/drawing/2014/main" id="{77212171-B184-1BFC-D71B-7A960CEB2D92}"/>
                  </a:ext>
                </a:extLst>
              </p:cNvPr>
              <p:cNvSpPr/>
              <p:nvPr/>
            </p:nvSpPr>
            <p:spPr>
              <a:xfrm>
                <a:off x="8653667" y="1487373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5" name="Strzałka: w dół 14">
                <a:extLst>
                  <a:ext uri="{FF2B5EF4-FFF2-40B4-BE49-F238E27FC236}">
                    <a16:creationId xmlns:a16="http://schemas.microsoft.com/office/drawing/2014/main" id="{B82FBA8D-2CC7-24EE-8AE8-CDAEC67F250D}"/>
                  </a:ext>
                </a:extLst>
              </p:cNvPr>
              <p:cNvSpPr/>
              <p:nvPr/>
            </p:nvSpPr>
            <p:spPr>
              <a:xfrm>
                <a:off x="8627165" y="2305694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dirty="0"/>
              </a:p>
            </p:txBody>
          </p:sp>
          <p:sp>
            <p:nvSpPr>
              <p:cNvPr id="16" name="Strzałka: w dół 15">
                <a:extLst>
                  <a:ext uri="{FF2B5EF4-FFF2-40B4-BE49-F238E27FC236}">
                    <a16:creationId xmlns:a16="http://schemas.microsoft.com/office/drawing/2014/main" id="{F39F63E1-916F-4D84-9D89-347BB3F80870}"/>
                  </a:ext>
                </a:extLst>
              </p:cNvPr>
              <p:cNvSpPr/>
              <p:nvPr/>
            </p:nvSpPr>
            <p:spPr>
              <a:xfrm>
                <a:off x="8650358" y="3133955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7" name="Strzałka: w dół 16">
                <a:extLst>
                  <a:ext uri="{FF2B5EF4-FFF2-40B4-BE49-F238E27FC236}">
                    <a16:creationId xmlns:a16="http://schemas.microsoft.com/office/drawing/2014/main" id="{24758552-1A6B-0AFA-03EB-0C52EAA778B2}"/>
                  </a:ext>
                </a:extLst>
              </p:cNvPr>
              <p:cNvSpPr/>
              <p:nvPr/>
            </p:nvSpPr>
            <p:spPr>
              <a:xfrm>
                <a:off x="8650358" y="3929088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8" name="Strzałka: w dół 17">
                <a:extLst>
                  <a:ext uri="{FF2B5EF4-FFF2-40B4-BE49-F238E27FC236}">
                    <a16:creationId xmlns:a16="http://schemas.microsoft.com/office/drawing/2014/main" id="{1403417F-DF52-BE71-9636-477DF1C4EE0B}"/>
                  </a:ext>
                </a:extLst>
              </p:cNvPr>
              <p:cNvSpPr/>
              <p:nvPr/>
            </p:nvSpPr>
            <p:spPr>
              <a:xfrm>
                <a:off x="8650358" y="4754029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9" name="Strzałka: w dół 18">
                <a:extLst>
                  <a:ext uri="{FF2B5EF4-FFF2-40B4-BE49-F238E27FC236}">
                    <a16:creationId xmlns:a16="http://schemas.microsoft.com/office/drawing/2014/main" id="{DFE4FC53-3BF6-5D8C-ABCB-DB893196C3AF}"/>
                  </a:ext>
                </a:extLst>
              </p:cNvPr>
              <p:cNvSpPr/>
              <p:nvPr/>
            </p:nvSpPr>
            <p:spPr>
              <a:xfrm>
                <a:off x="8650358" y="5539221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8EEE48CF-F232-9840-C6FD-D4780E967D97}"/>
                </a:ext>
              </a:extLst>
            </p:cNvPr>
            <p:cNvSpPr txBox="1"/>
            <p:nvPr/>
          </p:nvSpPr>
          <p:spPr>
            <a:xfrm>
              <a:off x="7485094" y="1420722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TrimmGalore</a:t>
              </a:r>
              <a:endParaRPr lang="pl-PL" sz="1600" i="1" dirty="0"/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B469B82D-ADCC-34DE-A2B9-D67D34DE8036}"/>
                </a:ext>
              </a:extLst>
            </p:cNvPr>
            <p:cNvSpPr txBox="1"/>
            <p:nvPr/>
          </p:nvSpPr>
          <p:spPr>
            <a:xfrm>
              <a:off x="7485094" y="22471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Bowtie2</a:t>
              </a:r>
              <a:endParaRPr lang="pl-PL" sz="1600" i="1" dirty="0"/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F558D814-38B9-085A-4E78-FD4FFACCB489}"/>
                </a:ext>
              </a:extLst>
            </p:cNvPr>
            <p:cNvSpPr txBox="1"/>
            <p:nvPr/>
          </p:nvSpPr>
          <p:spPr>
            <a:xfrm>
              <a:off x="7516288" y="3066600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Picard</a:t>
              </a:r>
              <a:endParaRPr lang="pl-PL" sz="1600" i="1" dirty="0"/>
            </a:p>
          </p:txBody>
        </p: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D60CEEFF-5EFB-635A-4FF2-42E8FD9AF6AB}"/>
                </a:ext>
              </a:extLst>
            </p:cNvPr>
            <p:cNvSpPr txBox="1"/>
            <p:nvPr/>
          </p:nvSpPr>
          <p:spPr>
            <a:xfrm>
              <a:off x="7502754" y="38607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5" name="pole tekstowe 24">
              <a:extLst>
                <a:ext uri="{FF2B5EF4-FFF2-40B4-BE49-F238E27FC236}">
                  <a16:creationId xmlns:a16="http://schemas.microsoft.com/office/drawing/2014/main" id="{306D3A08-A320-AF10-9765-EE07B4C58A47}"/>
                </a:ext>
              </a:extLst>
            </p:cNvPr>
            <p:cNvSpPr txBox="1"/>
            <p:nvPr/>
          </p:nvSpPr>
          <p:spPr>
            <a:xfrm>
              <a:off x="7495033" y="4671428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202267C4-0CD0-3FB7-97BF-2424A11A5601}"/>
                </a:ext>
              </a:extLst>
            </p:cNvPr>
            <p:cNvSpPr txBox="1"/>
            <p:nvPr/>
          </p:nvSpPr>
          <p:spPr>
            <a:xfrm>
              <a:off x="7499725" y="5482152"/>
              <a:ext cx="27077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Kentutills</a:t>
              </a:r>
              <a:r>
                <a:rPr lang="en-GB" sz="1600" i="1" dirty="0"/>
                <a:t>/ </a:t>
              </a:r>
              <a:r>
                <a:rPr lang="en-GB" sz="1600" i="1" dirty="0" err="1"/>
                <a:t>bedgraphToBigwig</a:t>
              </a:r>
              <a:endParaRPr lang="pl-PL" sz="1600" i="1" dirty="0"/>
            </a:p>
          </p:txBody>
        </p:sp>
      </p:grpSp>
      <p:grpSp>
        <p:nvGrpSpPr>
          <p:cNvPr id="52" name="Grupa 51">
            <a:extLst>
              <a:ext uri="{FF2B5EF4-FFF2-40B4-BE49-F238E27FC236}">
                <a16:creationId xmlns:a16="http://schemas.microsoft.com/office/drawing/2014/main" id="{8945C2B0-D924-11FE-D293-8F00F52E6EBD}"/>
              </a:ext>
            </a:extLst>
          </p:cNvPr>
          <p:cNvGrpSpPr/>
          <p:nvPr/>
        </p:nvGrpSpPr>
        <p:grpSpPr>
          <a:xfrm>
            <a:off x="4130943" y="950562"/>
            <a:ext cx="4829178" cy="2973905"/>
            <a:chOff x="4283759" y="674337"/>
            <a:chExt cx="4829178" cy="2973905"/>
          </a:xfrm>
        </p:grpSpPr>
        <p:sp>
          <p:nvSpPr>
            <p:cNvPr id="30" name="Prostokąt 29">
              <a:extLst>
                <a:ext uri="{FF2B5EF4-FFF2-40B4-BE49-F238E27FC236}">
                  <a16:creationId xmlns:a16="http://schemas.microsoft.com/office/drawing/2014/main" id="{ACFAF141-D557-1A26-D407-EA5F9D13CDC0}"/>
                </a:ext>
              </a:extLst>
            </p:cNvPr>
            <p:cNvSpPr/>
            <p:nvPr/>
          </p:nvSpPr>
          <p:spPr>
            <a:xfrm>
              <a:off x="7568646" y="807584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2" name="Prostokąt 31">
              <a:extLst>
                <a:ext uri="{FF2B5EF4-FFF2-40B4-BE49-F238E27FC236}">
                  <a16:creationId xmlns:a16="http://schemas.microsoft.com/office/drawing/2014/main" id="{3646BCB3-1F45-E6E0-91A9-44A7389777FA}"/>
                </a:ext>
              </a:extLst>
            </p:cNvPr>
            <p:cNvSpPr/>
            <p:nvPr/>
          </p:nvSpPr>
          <p:spPr>
            <a:xfrm>
              <a:off x="7572375" y="1629242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3" name="Prostokąt 32">
              <a:extLst>
                <a:ext uri="{FF2B5EF4-FFF2-40B4-BE49-F238E27FC236}">
                  <a16:creationId xmlns:a16="http://schemas.microsoft.com/office/drawing/2014/main" id="{6DCBCE33-5144-72FF-BE73-32539F168AB4}"/>
                </a:ext>
              </a:extLst>
            </p:cNvPr>
            <p:cNvSpPr/>
            <p:nvPr/>
          </p:nvSpPr>
          <p:spPr>
            <a:xfrm>
              <a:off x="7572375" y="2454537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A1D73BFC-0A09-999F-F3D2-7AB68A7F0994}"/>
                </a:ext>
              </a:extLst>
            </p:cNvPr>
            <p:cNvSpPr/>
            <p:nvPr/>
          </p:nvSpPr>
          <p:spPr>
            <a:xfrm>
              <a:off x="7568646" y="3278910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Grupa 39">
              <a:extLst>
                <a:ext uri="{FF2B5EF4-FFF2-40B4-BE49-F238E27FC236}">
                  <a16:creationId xmlns:a16="http://schemas.microsoft.com/office/drawing/2014/main" id="{385C884F-46E6-9160-A014-114EA2246B83}"/>
                </a:ext>
              </a:extLst>
            </p:cNvPr>
            <p:cNvGrpSpPr/>
            <p:nvPr/>
          </p:nvGrpSpPr>
          <p:grpSpPr>
            <a:xfrm>
              <a:off x="4283759" y="674337"/>
              <a:ext cx="3140770" cy="338554"/>
              <a:chOff x="4174430" y="674337"/>
              <a:chExt cx="3140770" cy="338554"/>
            </a:xfrm>
          </p:grpSpPr>
          <p:cxnSp>
            <p:nvCxnSpPr>
              <p:cNvPr id="29" name="Łącznik prosty ze strzałką 28">
                <a:extLst>
                  <a:ext uri="{FF2B5EF4-FFF2-40B4-BE49-F238E27FC236}">
                    <a16:creationId xmlns:a16="http://schemas.microsoft.com/office/drawing/2014/main" id="{3B7CE878-29AA-D941-5862-F96C2A5F65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4430" y="992250"/>
                <a:ext cx="3140770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pole tekstowe 38">
                <a:extLst>
                  <a:ext uri="{FF2B5EF4-FFF2-40B4-BE49-F238E27FC236}">
                    <a16:creationId xmlns:a16="http://schemas.microsoft.com/office/drawing/2014/main" id="{47B42FA1-FA7D-4B3C-E240-C0F247C587BE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1" name="Grupa 40">
              <a:extLst>
                <a:ext uri="{FF2B5EF4-FFF2-40B4-BE49-F238E27FC236}">
                  <a16:creationId xmlns:a16="http://schemas.microsoft.com/office/drawing/2014/main" id="{DA8307FB-45A9-EE22-010A-38D2D4ED663D}"/>
                </a:ext>
              </a:extLst>
            </p:cNvPr>
            <p:cNvGrpSpPr/>
            <p:nvPr/>
          </p:nvGrpSpPr>
          <p:grpSpPr>
            <a:xfrm>
              <a:off x="4432852" y="1500719"/>
              <a:ext cx="3010935" cy="338554"/>
              <a:chOff x="4304265" y="674337"/>
              <a:chExt cx="3010935" cy="338554"/>
            </a:xfrm>
          </p:grpSpPr>
          <p:cxnSp>
            <p:nvCxnSpPr>
              <p:cNvPr id="42" name="Łącznik prosty ze strzałką 41">
                <a:extLst>
                  <a:ext uri="{FF2B5EF4-FFF2-40B4-BE49-F238E27FC236}">
                    <a16:creationId xmlns:a16="http://schemas.microsoft.com/office/drawing/2014/main" id="{140C0D1D-4FD6-F217-DB53-A65E4A4E1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4265" y="978118"/>
                <a:ext cx="3010935" cy="1413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pole tekstowe 42">
                <a:extLst>
                  <a:ext uri="{FF2B5EF4-FFF2-40B4-BE49-F238E27FC236}">
                    <a16:creationId xmlns:a16="http://schemas.microsoft.com/office/drawing/2014/main" id="{69BD0884-95B1-75A9-AC03-41C5B670500B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AA898E91-EC9A-0116-C510-7DD00DB0F420}"/>
                </a:ext>
              </a:extLst>
            </p:cNvPr>
            <p:cNvGrpSpPr/>
            <p:nvPr/>
          </p:nvGrpSpPr>
          <p:grpSpPr>
            <a:xfrm>
              <a:off x="4879831" y="2388429"/>
              <a:ext cx="2535458" cy="338554"/>
              <a:chOff x="4779742" y="674337"/>
              <a:chExt cx="2535458" cy="338554"/>
            </a:xfrm>
          </p:grpSpPr>
          <p:cxnSp>
            <p:nvCxnSpPr>
              <p:cNvPr id="46" name="Łącznik prosty ze strzałką 45">
                <a:extLst>
                  <a:ext uri="{FF2B5EF4-FFF2-40B4-BE49-F238E27FC236}">
                    <a16:creationId xmlns:a16="http://schemas.microsoft.com/office/drawing/2014/main" id="{CAB74257-635C-755A-132F-C721D8745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pole tekstowe 46">
                <a:extLst>
                  <a:ext uri="{FF2B5EF4-FFF2-40B4-BE49-F238E27FC236}">
                    <a16:creationId xmlns:a16="http://schemas.microsoft.com/office/drawing/2014/main" id="{30C58032-546F-54AB-A00D-FD791E814EE6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7651F676-9CB9-E176-C309-801007609F7C}"/>
                </a:ext>
              </a:extLst>
            </p:cNvPr>
            <p:cNvGrpSpPr/>
            <p:nvPr/>
          </p:nvGrpSpPr>
          <p:grpSpPr>
            <a:xfrm>
              <a:off x="4883146" y="3166992"/>
              <a:ext cx="2535458" cy="338554"/>
              <a:chOff x="4779742" y="674337"/>
              <a:chExt cx="2535458" cy="338554"/>
            </a:xfrm>
          </p:grpSpPr>
          <p:cxnSp>
            <p:nvCxnSpPr>
              <p:cNvPr id="50" name="Łącznik prosty ze strzałką 49">
                <a:extLst>
                  <a:ext uri="{FF2B5EF4-FFF2-40B4-BE49-F238E27FC236}">
                    <a16:creationId xmlns:a16="http://schemas.microsoft.com/office/drawing/2014/main" id="{1E7BCB1A-6596-C51E-F3FC-6C715ADAF7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pole tekstowe 50">
                <a:extLst>
                  <a:ext uri="{FF2B5EF4-FFF2-40B4-BE49-F238E27FC236}">
                    <a16:creationId xmlns:a16="http://schemas.microsoft.com/office/drawing/2014/main" id="{91CAB3CA-A432-5376-B500-71F054617C5E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6A2B056F-4711-E980-6D28-6071851657D2}"/>
              </a:ext>
            </a:extLst>
          </p:cNvPr>
          <p:cNvGrpSpPr/>
          <p:nvPr/>
        </p:nvGrpSpPr>
        <p:grpSpPr>
          <a:xfrm>
            <a:off x="9341129" y="1031597"/>
            <a:ext cx="2427371" cy="5488472"/>
            <a:chOff x="8798204" y="755372"/>
            <a:chExt cx="2427371" cy="5488472"/>
          </a:xfrm>
        </p:grpSpPr>
        <p:sp>
          <p:nvSpPr>
            <p:cNvPr id="53" name="Nawias klamrowy zamykający 52">
              <a:extLst>
                <a:ext uri="{FF2B5EF4-FFF2-40B4-BE49-F238E27FC236}">
                  <a16:creationId xmlns:a16="http://schemas.microsoft.com/office/drawing/2014/main" id="{BFFD4387-50D7-DC91-FA60-7C33D521F3DB}"/>
                </a:ext>
              </a:extLst>
            </p:cNvPr>
            <p:cNvSpPr/>
            <p:nvPr/>
          </p:nvSpPr>
          <p:spPr>
            <a:xfrm>
              <a:off x="8798204" y="755372"/>
              <a:ext cx="345798" cy="5488472"/>
            </a:xfrm>
            <a:prstGeom prst="rightBrace">
              <a:avLst>
                <a:gd name="adj1" fmla="val 8333"/>
                <a:gd name="adj2" fmla="val 50342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54" name="Prostokąt 53">
              <a:extLst>
                <a:ext uri="{FF2B5EF4-FFF2-40B4-BE49-F238E27FC236}">
                  <a16:creationId xmlns:a16="http://schemas.microsoft.com/office/drawing/2014/main" id="{368B6852-BBB1-EC5A-D4CB-C2ED7A3874FF}"/>
                </a:ext>
              </a:extLst>
            </p:cNvPr>
            <p:cNvSpPr/>
            <p:nvPr/>
          </p:nvSpPr>
          <p:spPr>
            <a:xfrm>
              <a:off x="9417389" y="3276224"/>
              <a:ext cx="1808186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FINAL REPORT</a:t>
              </a:r>
              <a:endParaRPr lang="pl-PL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6B3C2552-9B8E-1EB3-89BF-DEE7015BCD21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8325554D-459A-9029-D58A-E38257D6F83C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  <a:r>
              <a:rPr lang="pl-PL" sz="2200" b="1" dirty="0" err="1"/>
              <a:t>workflow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2787668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EB93-863C-5C11-5205-53EBC7F7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310C26ED-E31E-B720-E75C-A6C47CC1CD59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AE07AE6-F7AC-BE09-6890-CAEA8EF582C9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length distribution</a:t>
            </a:r>
            <a:endParaRPr lang="pl-PL" sz="22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BE13BC9-C980-D1C9-B2BF-32C59CD2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568"/>
            <a:ext cx="12192000" cy="365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7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CF03-D75C-959B-92C4-B5EE7759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493C779-8520-C4F6-BAC2-7E7EB1CADDB4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6CA8046-2343-5A77-4589-6FEB8358BD80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Adapter content</a:t>
            </a:r>
            <a:endParaRPr lang="pl-PL" sz="2200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8469DE5-2E0D-5980-AA9D-606178C4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" t="25953" r="823" b="6030"/>
          <a:stretch>
            <a:fillRect/>
          </a:stretch>
        </p:blipFill>
        <p:spPr>
          <a:xfrm>
            <a:off x="104272" y="1046747"/>
            <a:ext cx="11983453" cy="2382253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07F99D51-ACFB-774A-1F57-9347C71A7E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5" t="24667" r="855"/>
          <a:stretch>
            <a:fillRect/>
          </a:stretch>
        </p:blipFill>
        <p:spPr>
          <a:xfrm>
            <a:off x="0" y="4031500"/>
            <a:ext cx="11983453" cy="2667741"/>
          </a:xfrm>
          <a:prstGeom prst="rect">
            <a:avLst/>
          </a:prstGeom>
        </p:spPr>
      </p:pic>
      <p:sp>
        <p:nvSpPr>
          <p:cNvPr id="7" name="Strzałka: w dół 6">
            <a:extLst>
              <a:ext uri="{FF2B5EF4-FFF2-40B4-BE49-F238E27FC236}">
                <a16:creationId xmlns:a16="http://schemas.microsoft.com/office/drawing/2014/main" id="{2AF477C8-D02A-F07A-988C-3DB7955ACC9E}"/>
              </a:ext>
            </a:extLst>
          </p:cNvPr>
          <p:cNvSpPr/>
          <p:nvPr/>
        </p:nvSpPr>
        <p:spPr>
          <a:xfrm>
            <a:off x="5987998" y="3604250"/>
            <a:ext cx="216000" cy="252000"/>
          </a:xfrm>
          <a:prstGeom prst="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0323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FEB7-7151-B0D5-CADF-10B4C43F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526B11E6-2985-BD83-34FC-68FAB67528BD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622527A-35C0-DFAA-EA65-1881834C4B03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status checks</a:t>
            </a:r>
            <a:endParaRPr lang="pl-PL" sz="22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4574311-318E-2D2A-19D1-762CA6AF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79" b="5161"/>
          <a:stretch>
            <a:fillRect/>
          </a:stretch>
        </p:blipFill>
        <p:spPr>
          <a:xfrm>
            <a:off x="0" y="1058779"/>
            <a:ext cx="12192000" cy="3549316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F677EC9D-1A97-0948-FD99-D4E189FF0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4" y="2701901"/>
            <a:ext cx="12192000" cy="410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89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48569-116B-384B-5C84-88A2761F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a 26">
            <a:extLst>
              <a:ext uri="{FF2B5EF4-FFF2-40B4-BE49-F238E27FC236}">
                <a16:creationId xmlns:a16="http://schemas.microsoft.com/office/drawing/2014/main" id="{94E885F3-CFEB-AA0C-0D9C-A8A779334BB7}"/>
              </a:ext>
            </a:extLst>
          </p:cNvPr>
          <p:cNvGrpSpPr/>
          <p:nvPr/>
        </p:nvGrpSpPr>
        <p:grpSpPr>
          <a:xfrm>
            <a:off x="996805" y="1083809"/>
            <a:ext cx="4946379" cy="5242832"/>
            <a:chOff x="5261108" y="1013340"/>
            <a:chExt cx="4946379" cy="5242832"/>
          </a:xfrm>
        </p:grpSpPr>
        <p:grpSp>
          <p:nvGrpSpPr>
            <p:cNvPr id="21" name="Grupa 20">
              <a:extLst>
                <a:ext uri="{FF2B5EF4-FFF2-40B4-BE49-F238E27FC236}">
                  <a16:creationId xmlns:a16="http://schemas.microsoft.com/office/drawing/2014/main" id="{DBEE9498-4FF2-BF64-AEA1-82EBF406CCDD}"/>
                </a:ext>
              </a:extLst>
            </p:cNvPr>
            <p:cNvGrpSpPr/>
            <p:nvPr/>
          </p:nvGrpSpPr>
          <p:grpSpPr>
            <a:xfrm>
              <a:off x="5261108" y="1013340"/>
              <a:ext cx="4240703" cy="5242832"/>
              <a:chOff x="6652587" y="1013340"/>
              <a:chExt cx="4240703" cy="5242832"/>
            </a:xfrm>
          </p:grpSpPr>
          <p:sp>
            <p:nvSpPr>
              <p:cNvPr id="7" name="Prostokąt 6">
                <a:extLst>
                  <a:ext uri="{FF2B5EF4-FFF2-40B4-BE49-F238E27FC236}">
                    <a16:creationId xmlns:a16="http://schemas.microsoft.com/office/drawing/2014/main" id="{95CDE379-FC2A-9B9F-9945-072B854E3EEE}"/>
                  </a:ext>
                </a:extLst>
              </p:cNvPr>
              <p:cNvSpPr/>
              <p:nvPr/>
            </p:nvSpPr>
            <p:spPr>
              <a:xfrm>
                <a:off x="7982777" y="1013340"/>
                <a:ext cx="154056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Reads </a:t>
                </a:r>
                <a:r>
                  <a:rPr lang="pl-PL" dirty="0">
                    <a:solidFill>
                      <a:schemeClr val="tx1"/>
                    </a:solidFill>
                  </a:rPr>
                  <a:t>FASTQ </a:t>
                </a:r>
              </a:p>
            </p:txBody>
          </p:sp>
          <p:sp>
            <p:nvSpPr>
              <p:cNvPr id="8" name="Prostokąt 7">
                <a:extLst>
                  <a:ext uri="{FF2B5EF4-FFF2-40B4-BE49-F238E27FC236}">
                    <a16:creationId xmlns:a16="http://schemas.microsoft.com/office/drawing/2014/main" id="{35428828-5F76-A7C7-E562-F365EF51F7CD}"/>
                  </a:ext>
                </a:extLst>
              </p:cNvPr>
              <p:cNvSpPr/>
              <p:nvPr/>
            </p:nvSpPr>
            <p:spPr>
              <a:xfrm>
                <a:off x="7828719" y="1825590"/>
                <a:ext cx="18486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Trimmed</a:t>
                </a:r>
                <a:r>
                  <a:rPr lang="pl-PL" dirty="0">
                    <a:solidFill>
                      <a:schemeClr val="tx1"/>
                    </a:solidFill>
                  </a:rPr>
                  <a:t> FASTQ </a:t>
                </a:r>
              </a:p>
            </p:txBody>
          </p:sp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11E154F8-E74B-DCAF-B7BA-A96712CC43BC}"/>
                  </a:ext>
                </a:extLst>
              </p:cNvPr>
              <p:cNvSpPr/>
              <p:nvPr/>
            </p:nvSpPr>
            <p:spPr>
              <a:xfrm>
                <a:off x="7391400" y="2637840"/>
                <a:ext cx="276307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</a:t>
                </a:r>
                <a:r>
                  <a:rPr lang="en-GB">
                    <a:solidFill>
                      <a:schemeClr val="tx1"/>
                    </a:solidFill>
                  </a:rPr>
                  <a:t>Alignments </a:t>
                </a:r>
                <a:r>
                  <a:rPr lang="en-GB" dirty="0">
                    <a:solidFill>
                      <a:schemeClr val="tx1"/>
                    </a:solidFill>
                  </a:rPr>
                  <a:t>BAM</a:t>
                </a:r>
                <a:endParaRPr lang="pl-PL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Prostokąt 9">
                <a:extLst>
                  <a:ext uri="{FF2B5EF4-FFF2-40B4-BE49-F238E27FC236}">
                    <a16:creationId xmlns:a16="http://schemas.microsoft.com/office/drawing/2014/main" id="{DC1297C2-D60B-6675-5E24-078E217C505C}"/>
                  </a:ext>
                </a:extLst>
              </p:cNvPr>
              <p:cNvSpPr/>
              <p:nvPr/>
            </p:nvSpPr>
            <p:spPr>
              <a:xfrm>
                <a:off x="7502387" y="3450090"/>
                <a:ext cx="25411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Deduplicated</a:t>
                </a:r>
                <a:r>
                  <a:rPr lang="pl-PL" dirty="0">
                    <a:solidFill>
                      <a:schemeClr val="tx1"/>
                    </a:solidFill>
                  </a:rPr>
                  <a:t> </a:t>
                </a:r>
                <a:r>
                  <a:rPr lang="pl-PL" b="1" i="1" dirty="0">
                    <a:solidFill>
                      <a:schemeClr val="tx1"/>
                    </a:solidFill>
                  </a:rPr>
                  <a:t>BAM</a:t>
                </a:r>
              </a:p>
            </p:txBody>
          </p:sp>
          <p:sp>
            <p:nvSpPr>
              <p:cNvPr id="11" name="Prostokąt 10">
                <a:extLst>
                  <a:ext uri="{FF2B5EF4-FFF2-40B4-BE49-F238E27FC236}">
                    <a16:creationId xmlns:a16="http://schemas.microsoft.com/office/drawing/2014/main" id="{4D3575C3-0DFC-A950-1BEC-C479E81318C9}"/>
                  </a:ext>
                </a:extLst>
              </p:cNvPr>
              <p:cNvSpPr/>
              <p:nvPr/>
            </p:nvSpPr>
            <p:spPr>
              <a:xfrm>
                <a:off x="7174392" y="4262340"/>
                <a:ext cx="3177211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Coverage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Prostokąt 11">
                <a:extLst>
                  <a:ext uri="{FF2B5EF4-FFF2-40B4-BE49-F238E27FC236}">
                    <a16:creationId xmlns:a16="http://schemas.microsoft.com/office/drawing/2014/main" id="{E10DA2A8-A5C7-1757-A735-BF0D815EBC20}"/>
                  </a:ext>
                </a:extLst>
              </p:cNvPr>
              <p:cNvSpPr/>
              <p:nvPr/>
            </p:nvSpPr>
            <p:spPr>
              <a:xfrm>
                <a:off x="6652587" y="507459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Read-depth normalised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Prostokąt 12">
                <a:extLst>
                  <a:ext uri="{FF2B5EF4-FFF2-40B4-BE49-F238E27FC236}">
                    <a16:creationId xmlns:a16="http://schemas.microsoft.com/office/drawing/2014/main" id="{8C8C5186-D67F-3D85-CF4B-93412489AD2D}"/>
                  </a:ext>
                </a:extLst>
              </p:cNvPr>
              <p:cNvSpPr/>
              <p:nvPr/>
            </p:nvSpPr>
            <p:spPr>
              <a:xfrm>
                <a:off x="6672468" y="588684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Indexed Binary Coverage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BigWig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Strzałka: w dół 13">
                <a:extLst>
                  <a:ext uri="{FF2B5EF4-FFF2-40B4-BE49-F238E27FC236}">
                    <a16:creationId xmlns:a16="http://schemas.microsoft.com/office/drawing/2014/main" id="{7258AB48-A896-202D-D176-1CBC18E385E1}"/>
                  </a:ext>
                </a:extLst>
              </p:cNvPr>
              <p:cNvSpPr/>
              <p:nvPr/>
            </p:nvSpPr>
            <p:spPr>
              <a:xfrm>
                <a:off x="8653667" y="1487373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5" name="Strzałka: w dół 14">
                <a:extLst>
                  <a:ext uri="{FF2B5EF4-FFF2-40B4-BE49-F238E27FC236}">
                    <a16:creationId xmlns:a16="http://schemas.microsoft.com/office/drawing/2014/main" id="{6E48AF4E-0225-C513-64BA-919C941732DA}"/>
                  </a:ext>
                </a:extLst>
              </p:cNvPr>
              <p:cNvSpPr/>
              <p:nvPr/>
            </p:nvSpPr>
            <p:spPr>
              <a:xfrm>
                <a:off x="8627165" y="2305694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dirty="0"/>
              </a:p>
            </p:txBody>
          </p:sp>
          <p:sp>
            <p:nvSpPr>
              <p:cNvPr id="16" name="Strzałka: w dół 15">
                <a:extLst>
                  <a:ext uri="{FF2B5EF4-FFF2-40B4-BE49-F238E27FC236}">
                    <a16:creationId xmlns:a16="http://schemas.microsoft.com/office/drawing/2014/main" id="{A5B5B898-693D-C12A-8434-B29940B8EF30}"/>
                  </a:ext>
                </a:extLst>
              </p:cNvPr>
              <p:cNvSpPr/>
              <p:nvPr/>
            </p:nvSpPr>
            <p:spPr>
              <a:xfrm>
                <a:off x="8650358" y="3133955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7" name="Strzałka: w dół 16">
                <a:extLst>
                  <a:ext uri="{FF2B5EF4-FFF2-40B4-BE49-F238E27FC236}">
                    <a16:creationId xmlns:a16="http://schemas.microsoft.com/office/drawing/2014/main" id="{62923215-F2C0-2ECB-7A4E-43667D2A6B35}"/>
                  </a:ext>
                </a:extLst>
              </p:cNvPr>
              <p:cNvSpPr/>
              <p:nvPr/>
            </p:nvSpPr>
            <p:spPr>
              <a:xfrm>
                <a:off x="8650358" y="3929088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8" name="Strzałka: w dół 17">
                <a:extLst>
                  <a:ext uri="{FF2B5EF4-FFF2-40B4-BE49-F238E27FC236}">
                    <a16:creationId xmlns:a16="http://schemas.microsoft.com/office/drawing/2014/main" id="{5A4DFCDC-F95B-BCA1-FC21-CE4B996AD355}"/>
                  </a:ext>
                </a:extLst>
              </p:cNvPr>
              <p:cNvSpPr/>
              <p:nvPr/>
            </p:nvSpPr>
            <p:spPr>
              <a:xfrm>
                <a:off x="8650358" y="4754029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9" name="Strzałka: w dół 18">
                <a:extLst>
                  <a:ext uri="{FF2B5EF4-FFF2-40B4-BE49-F238E27FC236}">
                    <a16:creationId xmlns:a16="http://schemas.microsoft.com/office/drawing/2014/main" id="{A9BD99CD-801C-7C04-FE28-E4E64E28D907}"/>
                  </a:ext>
                </a:extLst>
              </p:cNvPr>
              <p:cNvSpPr/>
              <p:nvPr/>
            </p:nvSpPr>
            <p:spPr>
              <a:xfrm>
                <a:off x="8650358" y="5539221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20B9FDD1-5D5B-240B-AA00-18622554ED96}"/>
                </a:ext>
              </a:extLst>
            </p:cNvPr>
            <p:cNvSpPr txBox="1"/>
            <p:nvPr/>
          </p:nvSpPr>
          <p:spPr>
            <a:xfrm>
              <a:off x="7485094" y="1420722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TrimmGalore</a:t>
              </a:r>
              <a:endParaRPr lang="pl-PL" sz="1600" i="1" dirty="0"/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E956C33E-0B2A-5249-98FF-3611619C214D}"/>
                </a:ext>
              </a:extLst>
            </p:cNvPr>
            <p:cNvSpPr txBox="1"/>
            <p:nvPr/>
          </p:nvSpPr>
          <p:spPr>
            <a:xfrm>
              <a:off x="7485094" y="22471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Bowtie2</a:t>
              </a:r>
              <a:endParaRPr lang="pl-PL" sz="1600" i="1" dirty="0"/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6236A6C7-93DE-EFFA-642A-E527CA409853}"/>
                </a:ext>
              </a:extLst>
            </p:cNvPr>
            <p:cNvSpPr txBox="1"/>
            <p:nvPr/>
          </p:nvSpPr>
          <p:spPr>
            <a:xfrm>
              <a:off x="7516288" y="3066600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Picard</a:t>
              </a:r>
              <a:endParaRPr lang="pl-PL" sz="1600" i="1" dirty="0"/>
            </a:p>
          </p:txBody>
        </p: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61EE7F44-022B-B58D-E245-C7520BFD5FEF}"/>
                </a:ext>
              </a:extLst>
            </p:cNvPr>
            <p:cNvSpPr txBox="1"/>
            <p:nvPr/>
          </p:nvSpPr>
          <p:spPr>
            <a:xfrm>
              <a:off x="7502754" y="38607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5" name="pole tekstowe 24">
              <a:extLst>
                <a:ext uri="{FF2B5EF4-FFF2-40B4-BE49-F238E27FC236}">
                  <a16:creationId xmlns:a16="http://schemas.microsoft.com/office/drawing/2014/main" id="{DAE8EAE0-AA3F-DFE6-C7AB-8E665B91E653}"/>
                </a:ext>
              </a:extLst>
            </p:cNvPr>
            <p:cNvSpPr txBox="1"/>
            <p:nvPr/>
          </p:nvSpPr>
          <p:spPr>
            <a:xfrm>
              <a:off x="7495033" y="4671428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8B0D4B7B-A58B-04E0-AFFB-5F1E2EF33F9C}"/>
                </a:ext>
              </a:extLst>
            </p:cNvPr>
            <p:cNvSpPr txBox="1"/>
            <p:nvPr/>
          </p:nvSpPr>
          <p:spPr>
            <a:xfrm>
              <a:off x="7499725" y="5482152"/>
              <a:ext cx="27077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Kentutills</a:t>
              </a:r>
              <a:r>
                <a:rPr lang="en-GB" sz="1600" i="1" dirty="0"/>
                <a:t>/ </a:t>
              </a:r>
              <a:r>
                <a:rPr lang="en-GB" sz="1600" i="1" dirty="0" err="1"/>
                <a:t>bedgraphToBigwig</a:t>
              </a:r>
              <a:endParaRPr lang="pl-PL" sz="1600" i="1" dirty="0"/>
            </a:p>
          </p:txBody>
        </p:sp>
      </p:grpSp>
      <p:grpSp>
        <p:nvGrpSpPr>
          <p:cNvPr id="52" name="Grupa 51">
            <a:extLst>
              <a:ext uri="{FF2B5EF4-FFF2-40B4-BE49-F238E27FC236}">
                <a16:creationId xmlns:a16="http://schemas.microsoft.com/office/drawing/2014/main" id="{0566CA73-8700-82BA-3707-510A7458D383}"/>
              </a:ext>
            </a:extLst>
          </p:cNvPr>
          <p:cNvGrpSpPr/>
          <p:nvPr/>
        </p:nvGrpSpPr>
        <p:grpSpPr>
          <a:xfrm>
            <a:off x="4130943" y="950562"/>
            <a:ext cx="4829178" cy="2973905"/>
            <a:chOff x="4283759" y="674337"/>
            <a:chExt cx="4829178" cy="2973905"/>
          </a:xfrm>
        </p:grpSpPr>
        <p:sp>
          <p:nvSpPr>
            <p:cNvPr id="30" name="Prostokąt 29">
              <a:extLst>
                <a:ext uri="{FF2B5EF4-FFF2-40B4-BE49-F238E27FC236}">
                  <a16:creationId xmlns:a16="http://schemas.microsoft.com/office/drawing/2014/main" id="{DF9E3BA3-5E38-A45B-B6C7-A0BFA463C9DF}"/>
                </a:ext>
              </a:extLst>
            </p:cNvPr>
            <p:cNvSpPr/>
            <p:nvPr/>
          </p:nvSpPr>
          <p:spPr>
            <a:xfrm>
              <a:off x="7568646" y="807584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2" name="Prostokąt 31">
              <a:extLst>
                <a:ext uri="{FF2B5EF4-FFF2-40B4-BE49-F238E27FC236}">
                  <a16:creationId xmlns:a16="http://schemas.microsoft.com/office/drawing/2014/main" id="{0BDF3579-4350-9A41-7165-F911CCD35E6A}"/>
                </a:ext>
              </a:extLst>
            </p:cNvPr>
            <p:cNvSpPr/>
            <p:nvPr/>
          </p:nvSpPr>
          <p:spPr>
            <a:xfrm>
              <a:off x="7572375" y="1629242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3" name="Prostokąt 32">
              <a:extLst>
                <a:ext uri="{FF2B5EF4-FFF2-40B4-BE49-F238E27FC236}">
                  <a16:creationId xmlns:a16="http://schemas.microsoft.com/office/drawing/2014/main" id="{35B29096-5D32-E1BF-02B7-E3291A833BE0}"/>
                </a:ext>
              </a:extLst>
            </p:cNvPr>
            <p:cNvSpPr/>
            <p:nvPr/>
          </p:nvSpPr>
          <p:spPr>
            <a:xfrm>
              <a:off x="7572375" y="2454537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D416AFA1-4BC2-FBE0-BF40-43057F620FC2}"/>
                </a:ext>
              </a:extLst>
            </p:cNvPr>
            <p:cNvSpPr/>
            <p:nvPr/>
          </p:nvSpPr>
          <p:spPr>
            <a:xfrm>
              <a:off x="7568646" y="3278910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Grupa 39">
              <a:extLst>
                <a:ext uri="{FF2B5EF4-FFF2-40B4-BE49-F238E27FC236}">
                  <a16:creationId xmlns:a16="http://schemas.microsoft.com/office/drawing/2014/main" id="{7BA1D972-5053-F610-62F6-3CED2F5F7037}"/>
                </a:ext>
              </a:extLst>
            </p:cNvPr>
            <p:cNvGrpSpPr/>
            <p:nvPr/>
          </p:nvGrpSpPr>
          <p:grpSpPr>
            <a:xfrm>
              <a:off x="4283759" y="674337"/>
              <a:ext cx="3140770" cy="338554"/>
              <a:chOff x="4174430" y="674337"/>
              <a:chExt cx="3140770" cy="338554"/>
            </a:xfrm>
          </p:grpSpPr>
          <p:cxnSp>
            <p:nvCxnSpPr>
              <p:cNvPr id="29" name="Łącznik prosty ze strzałką 28">
                <a:extLst>
                  <a:ext uri="{FF2B5EF4-FFF2-40B4-BE49-F238E27FC236}">
                    <a16:creationId xmlns:a16="http://schemas.microsoft.com/office/drawing/2014/main" id="{8BBC055A-4B5D-D94B-490C-5D521C8486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4430" y="992250"/>
                <a:ext cx="3140770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pole tekstowe 38">
                <a:extLst>
                  <a:ext uri="{FF2B5EF4-FFF2-40B4-BE49-F238E27FC236}">
                    <a16:creationId xmlns:a16="http://schemas.microsoft.com/office/drawing/2014/main" id="{8B645A89-6E21-830B-C38C-7A417FC02C40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1" name="Grupa 40">
              <a:extLst>
                <a:ext uri="{FF2B5EF4-FFF2-40B4-BE49-F238E27FC236}">
                  <a16:creationId xmlns:a16="http://schemas.microsoft.com/office/drawing/2014/main" id="{122B582E-266F-6ACC-3FD2-25A94374360D}"/>
                </a:ext>
              </a:extLst>
            </p:cNvPr>
            <p:cNvGrpSpPr/>
            <p:nvPr/>
          </p:nvGrpSpPr>
          <p:grpSpPr>
            <a:xfrm>
              <a:off x="4432852" y="1500719"/>
              <a:ext cx="3010935" cy="338554"/>
              <a:chOff x="4304265" y="674337"/>
              <a:chExt cx="3010935" cy="338554"/>
            </a:xfrm>
          </p:grpSpPr>
          <p:cxnSp>
            <p:nvCxnSpPr>
              <p:cNvPr id="42" name="Łącznik prosty ze strzałką 41">
                <a:extLst>
                  <a:ext uri="{FF2B5EF4-FFF2-40B4-BE49-F238E27FC236}">
                    <a16:creationId xmlns:a16="http://schemas.microsoft.com/office/drawing/2014/main" id="{4DC6B1F8-1FDC-12B8-AEA8-EFA2C937F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4265" y="978118"/>
                <a:ext cx="3010935" cy="1413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pole tekstowe 42">
                <a:extLst>
                  <a:ext uri="{FF2B5EF4-FFF2-40B4-BE49-F238E27FC236}">
                    <a16:creationId xmlns:a16="http://schemas.microsoft.com/office/drawing/2014/main" id="{C6ADE77B-25C1-5772-6140-9ED6033A2034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BD8B4570-188B-90AB-DC6F-79A182A65C31}"/>
                </a:ext>
              </a:extLst>
            </p:cNvPr>
            <p:cNvGrpSpPr/>
            <p:nvPr/>
          </p:nvGrpSpPr>
          <p:grpSpPr>
            <a:xfrm>
              <a:off x="4879831" y="2388429"/>
              <a:ext cx="2535458" cy="338554"/>
              <a:chOff x="4779742" y="674337"/>
              <a:chExt cx="2535458" cy="338554"/>
            </a:xfrm>
          </p:grpSpPr>
          <p:cxnSp>
            <p:nvCxnSpPr>
              <p:cNvPr id="46" name="Łącznik prosty ze strzałką 45">
                <a:extLst>
                  <a:ext uri="{FF2B5EF4-FFF2-40B4-BE49-F238E27FC236}">
                    <a16:creationId xmlns:a16="http://schemas.microsoft.com/office/drawing/2014/main" id="{CA57DF44-195D-081A-90B1-54FB2E033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pole tekstowe 46">
                <a:extLst>
                  <a:ext uri="{FF2B5EF4-FFF2-40B4-BE49-F238E27FC236}">
                    <a16:creationId xmlns:a16="http://schemas.microsoft.com/office/drawing/2014/main" id="{EF177D66-2C88-87B3-B454-32C20FAB1AD3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5E999022-DCF6-92B9-2963-0BB93D817C8E}"/>
                </a:ext>
              </a:extLst>
            </p:cNvPr>
            <p:cNvGrpSpPr/>
            <p:nvPr/>
          </p:nvGrpSpPr>
          <p:grpSpPr>
            <a:xfrm>
              <a:off x="4883146" y="3166992"/>
              <a:ext cx="2535458" cy="338554"/>
              <a:chOff x="4779742" y="674337"/>
              <a:chExt cx="2535458" cy="338554"/>
            </a:xfrm>
          </p:grpSpPr>
          <p:cxnSp>
            <p:nvCxnSpPr>
              <p:cNvPr id="50" name="Łącznik prosty ze strzałką 49">
                <a:extLst>
                  <a:ext uri="{FF2B5EF4-FFF2-40B4-BE49-F238E27FC236}">
                    <a16:creationId xmlns:a16="http://schemas.microsoft.com/office/drawing/2014/main" id="{97931CFB-DB6C-D6EA-0EFA-C0A14E0725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pole tekstowe 50">
                <a:extLst>
                  <a:ext uri="{FF2B5EF4-FFF2-40B4-BE49-F238E27FC236}">
                    <a16:creationId xmlns:a16="http://schemas.microsoft.com/office/drawing/2014/main" id="{FD83F81D-3A93-1203-D476-A16DC6DF9264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3B3BFC21-5E9E-0A5D-79B9-57210F2C41D5}"/>
              </a:ext>
            </a:extLst>
          </p:cNvPr>
          <p:cNvGrpSpPr/>
          <p:nvPr/>
        </p:nvGrpSpPr>
        <p:grpSpPr>
          <a:xfrm>
            <a:off x="9341129" y="1031597"/>
            <a:ext cx="2427371" cy="5488472"/>
            <a:chOff x="8798204" y="755372"/>
            <a:chExt cx="2427371" cy="5488472"/>
          </a:xfrm>
        </p:grpSpPr>
        <p:sp>
          <p:nvSpPr>
            <p:cNvPr id="53" name="Nawias klamrowy zamykający 52">
              <a:extLst>
                <a:ext uri="{FF2B5EF4-FFF2-40B4-BE49-F238E27FC236}">
                  <a16:creationId xmlns:a16="http://schemas.microsoft.com/office/drawing/2014/main" id="{73DADBD2-6575-2106-F95B-E619B7587644}"/>
                </a:ext>
              </a:extLst>
            </p:cNvPr>
            <p:cNvSpPr/>
            <p:nvPr/>
          </p:nvSpPr>
          <p:spPr>
            <a:xfrm>
              <a:off x="8798204" y="755372"/>
              <a:ext cx="345798" cy="5488472"/>
            </a:xfrm>
            <a:prstGeom prst="rightBrace">
              <a:avLst>
                <a:gd name="adj1" fmla="val 8333"/>
                <a:gd name="adj2" fmla="val 50342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54" name="Prostokąt 53">
              <a:extLst>
                <a:ext uri="{FF2B5EF4-FFF2-40B4-BE49-F238E27FC236}">
                  <a16:creationId xmlns:a16="http://schemas.microsoft.com/office/drawing/2014/main" id="{EABC1DAA-8989-CE28-F420-331F8C38FCAE}"/>
                </a:ext>
              </a:extLst>
            </p:cNvPr>
            <p:cNvSpPr/>
            <p:nvPr/>
          </p:nvSpPr>
          <p:spPr>
            <a:xfrm>
              <a:off x="9417389" y="3276224"/>
              <a:ext cx="1808186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FINAL REPORT</a:t>
              </a:r>
              <a:endParaRPr lang="pl-PL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CCC225EE-38C9-2B5A-88A3-1A55D4126DAF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95F1206F-82AB-C8AC-70DE-8285F0318B3B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  <a:r>
              <a:rPr lang="pl-PL" sz="2200" b="1" dirty="0" err="1"/>
              <a:t>workflow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2334225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2C35D-1554-B051-36FA-694E69B6D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F9F4AC73-F978-7A0B-71EA-8C894C0C2E99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2827353-66CD-FCE8-548C-7BE23F1E643A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% Aligned</a:t>
            </a:r>
            <a:endParaRPr lang="pl-PL" sz="2200" b="1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2FCB7B4-EABA-119C-3618-177C786F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418"/>
            <a:ext cx="12192000" cy="469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52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9479-C3D3-0B2C-CEEF-1664C9A4D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80561B3-12E6-0643-FFFF-1CF2A8C8E3DC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608649A-3680-E5EC-4485-CCCD2AA19673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PE alignment scores</a:t>
            </a:r>
            <a:endParaRPr lang="pl-PL" sz="2200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B888622-994F-B399-4200-1C407467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0833"/>
            <a:ext cx="12192000" cy="42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91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405F-795F-178F-A66F-9BB99B46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a 26">
            <a:extLst>
              <a:ext uri="{FF2B5EF4-FFF2-40B4-BE49-F238E27FC236}">
                <a16:creationId xmlns:a16="http://schemas.microsoft.com/office/drawing/2014/main" id="{D9170295-2776-E32A-1E82-2EA3123B7E1A}"/>
              </a:ext>
            </a:extLst>
          </p:cNvPr>
          <p:cNvGrpSpPr/>
          <p:nvPr/>
        </p:nvGrpSpPr>
        <p:grpSpPr>
          <a:xfrm>
            <a:off x="996805" y="1083809"/>
            <a:ext cx="4946379" cy="5242832"/>
            <a:chOff x="5261108" y="1013340"/>
            <a:chExt cx="4946379" cy="5242832"/>
          </a:xfrm>
        </p:grpSpPr>
        <p:grpSp>
          <p:nvGrpSpPr>
            <p:cNvPr id="21" name="Grupa 20">
              <a:extLst>
                <a:ext uri="{FF2B5EF4-FFF2-40B4-BE49-F238E27FC236}">
                  <a16:creationId xmlns:a16="http://schemas.microsoft.com/office/drawing/2014/main" id="{3039AEDC-7C37-6007-11EB-9EF55BB2135E}"/>
                </a:ext>
              </a:extLst>
            </p:cNvPr>
            <p:cNvGrpSpPr/>
            <p:nvPr/>
          </p:nvGrpSpPr>
          <p:grpSpPr>
            <a:xfrm>
              <a:off x="5261108" y="1013340"/>
              <a:ext cx="4240703" cy="5242832"/>
              <a:chOff x="6652587" y="1013340"/>
              <a:chExt cx="4240703" cy="5242832"/>
            </a:xfrm>
          </p:grpSpPr>
          <p:sp>
            <p:nvSpPr>
              <p:cNvPr id="7" name="Prostokąt 6">
                <a:extLst>
                  <a:ext uri="{FF2B5EF4-FFF2-40B4-BE49-F238E27FC236}">
                    <a16:creationId xmlns:a16="http://schemas.microsoft.com/office/drawing/2014/main" id="{53084F88-C982-27B2-E3FC-4CFCBE3E1D5E}"/>
                  </a:ext>
                </a:extLst>
              </p:cNvPr>
              <p:cNvSpPr/>
              <p:nvPr/>
            </p:nvSpPr>
            <p:spPr>
              <a:xfrm>
                <a:off x="7982777" y="1013340"/>
                <a:ext cx="154056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Reads </a:t>
                </a:r>
                <a:r>
                  <a:rPr lang="pl-PL" dirty="0">
                    <a:solidFill>
                      <a:schemeClr val="tx1"/>
                    </a:solidFill>
                  </a:rPr>
                  <a:t>FASTQ </a:t>
                </a:r>
              </a:p>
            </p:txBody>
          </p:sp>
          <p:sp>
            <p:nvSpPr>
              <p:cNvPr id="8" name="Prostokąt 7">
                <a:extLst>
                  <a:ext uri="{FF2B5EF4-FFF2-40B4-BE49-F238E27FC236}">
                    <a16:creationId xmlns:a16="http://schemas.microsoft.com/office/drawing/2014/main" id="{79C19BA6-D524-FE53-86D9-5C8D08209B3E}"/>
                  </a:ext>
                </a:extLst>
              </p:cNvPr>
              <p:cNvSpPr/>
              <p:nvPr/>
            </p:nvSpPr>
            <p:spPr>
              <a:xfrm>
                <a:off x="7828719" y="1825590"/>
                <a:ext cx="18486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Trimmed</a:t>
                </a:r>
                <a:r>
                  <a:rPr lang="pl-PL" dirty="0">
                    <a:solidFill>
                      <a:schemeClr val="tx1"/>
                    </a:solidFill>
                  </a:rPr>
                  <a:t> FASTQ </a:t>
                </a:r>
              </a:p>
            </p:txBody>
          </p:sp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0CB03B81-DFBF-950E-A89F-C574071F50C7}"/>
                  </a:ext>
                </a:extLst>
              </p:cNvPr>
              <p:cNvSpPr/>
              <p:nvPr/>
            </p:nvSpPr>
            <p:spPr>
              <a:xfrm>
                <a:off x="7391400" y="2637840"/>
                <a:ext cx="276307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Alignments BAM</a:t>
                </a:r>
                <a:endParaRPr lang="pl-PL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Prostokąt 9">
                <a:extLst>
                  <a:ext uri="{FF2B5EF4-FFF2-40B4-BE49-F238E27FC236}">
                    <a16:creationId xmlns:a16="http://schemas.microsoft.com/office/drawing/2014/main" id="{0274D72A-7949-9B87-8B34-E2185C9B5079}"/>
                  </a:ext>
                </a:extLst>
              </p:cNvPr>
              <p:cNvSpPr/>
              <p:nvPr/>
            </p:nvSpPr>
            <p:spPr>
              <a:xfrm>
                <a:off x="7502387" y="3450090"/>
                <a:ext cx="25411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 err="1">
                    <a:solidFill>
                      <a:schemeClr val="tx1"/>
                    </a:solidFill>
                  </a:rPr>
                  <a:t>Deduplicated</a:t>
                </a:r>
                <a:r>
                  <a:rPr lang="pl-PL" dirty="0">
                    <a:solidFill>
                      <a:schemeClr val="tx1"/>
                    </a:solidFill>
                  </a:rPr>
                  <a:t> BAM</a:t>
                </a:r>
              </a:p>
            </p:txBody>
          </p:sp>
          <p:sp>
            <p:nvSpPr>
              <p:cNvPr id="11" name="Prostokąt 10">
                <a:extLst>
                  <a:ext uri="{FF2B5EF4-FFF2-40B4-BE49-F238E27FC236}">
                    <a16:creationId xmlns:a16="http://schemas.microsoft.com/office/drawing/2014/main" id="{536F0AA5-DD21-A3F0-ACBB-0DBAB76FE178}"/>
                  </a:ext>
                </a:extLst>
              </p:cNvPr>
              <p:cNvSpPr/>
              <p:nvPr/>
            </p:nvSpPr>
            <p:spPr>
              <a:xfrm>
                <a:off x="7174392" y="4262340"/>
                <a:ext cx="3177211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Genomic Coverage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Prostokąt 11">
                <a:extLst>
                  <a:ext uri="{FF2B5EF4-FFF2-40B4-BE49-F238E27FC236}">
                    <a16:creationId xmlns:a16="http://schemas.microsoft.com/office/drawing/2014/main" id="{9FA99963-279C-9B16-6012-B54C98014B49}"/>
                  </a:ext>
                </a:extLst>
              </p:cNvPr>
              <p:cNvSpPr/>
              <p:nvPr/>
            </p:nvSpPr>
            <p:spPr>
              <a:xfrm>
                <a:off x="6652587" y="507459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Read-depth normalised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BedGraph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Prostokąt 12">
                <a:extLst>
                  <a:ext uri="{FF2B5EF4-FFF2-40B4-BE49-F238E27FC236}">
                    <a16:creationId xmlns:a16="http://schemas.microsoft.com/office/drawing/2014/main" id="{9FE4533F-9564-472F-8FD8-C5A04BA48433}"/>
                  </a:ext>
                </a:extLst>
              </p:cNvPr>
              <p:cNvSpPr/>
              <p:nvPr/>
            </p:nvSpPr>
            <p:spPr>
              <a:xfrm>
                <a:off x="6672468" y="5886840"/>
                <a:ext cx="42208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Indexed Binary Coverage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r>
                  <a:rPr lang="en-GB" b="1" i="1" dirty="0" err="1">
                    <a:solidFill>
                      <a:schemeClr val="tx1"/>
                    </a:solidFill>
                  </a:rPr>
                  <a:t>BigWig</a:t>
                </a:r>
                <a:r>
                  <a:rPr lang="en-GB" b="1" i="1" dirty="0">
                    <a:solidFill>
                      <a:schemeClr val="tx1"/>
                    </a:solidFill>
                  </a:rPr>
                  <a:t> </a:t>
                </a:r>
                <a:endParaRPr lang="pl-PL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Strzałka: w dół 13">
                <a:extLst>
                  <a:ext uri="{FF2B5EF4-FFF2-40B4-BE49-F238E27FC236}">
                    <a16:creationId xmlns:a16="http://schemas.microsoft.com/office/drawing/2014/main" id="{70EAD22D-117E-E27D-7F93-1FCA4B472986}"/>
                  </a:ext>
                </a:extLst>
              </p:cNvPr>
              <p:cNvSpPr/>
              <p:nvPr/>
            </p:nvSpPr>
            <p:spPr>
              <a:xfrm>
                <a:off x="8653667" y="1487373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5" name="Strzałka: w dół 14">
                <a:extLst>
                  <a:ext uri="{FF2B5EF4-FFF2-40B4-BE49-F238E27FC236}">
                    <a16:creationId xmlns:a16="http://schemas.microsoft.com/office/drawing/2014/main" id="{59F30DC7-94E0-C710-A3AD-85BAFEC48DD6}"/>
                  </a:ext>
                </a:extLst>
              </p:cNvPr>
              <p:cNvSpPr/>
              <p:nvPr/>
            </p:nvSpPr>
            <p:spPr>
              <a:xfrm>
                <a:off x="8627165" y="2305694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dirty="0"/>
              </a:p>
            </p:txBody>
          </p:sp>
          <p:sp>
            <p:nvSpPr>
              <p:cNvPr id="16" name="Strzałka: w dół 15">
                <a:extLst>
                  <a:ext uri="{FF2B5EF4-FFF2-40B4-BE49-F238E27FC236}">
                    <a16:creationId xmlns:a16="http://schemas.microsoft.com/office/drawing/2014/main" id="{1F445EE2-C320-A9B6-A820-7A2D1707B1F1}"/>
                  </a:ext>
                </a:extLst>
              </p:cNvPr>
              <p:cNvSpPr/>
              <p:nvPr/>
            </p:nvSpPr>
            <p:spPr>
              <a:xfrm>
                <a:off x="8650358" y="3133955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7" name="Strzałka: w dół 16">
                <a:extLst>
                  <a:ext uri="{FF2B5EF4-FFF2-40B4-BE49-F238E27FC236}">
                    <a16:creationId xmlns:a16="http://schemas.microsoft.com/office/drawing/2014/main" id="{EA041F50-E692-03E3-A8E3-DABE77DAF0CA}"/>
                  </a:ext>
                </a:extLst>
              </p:cNvPr>
              <p:cNvSpPr/>
              <p:nvPr/>
            </p:nvSpPr>
            <p:spPr>
              <a:xfrm>
                <a:off x="8650358" y="3929088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8" name="Strzałka: w dół 17">
                <a:extLst>
                  <a:ext uri="{FF2B5EF4-FFF2-40B4-BE49-F238E27FC236}">
                    <a16:creationId xmlns:a16="http://schemas.microsoft.com/office/drawing/2014/main" id="{F6067FAF-0365-F8AD-A2A3-83A9BD75BAA6}"/>
                  </a:ext>
                </a:extLst>
              </p:cNvPr>
              <p:cNvSpPr/>
              <p:nvPr/>
            </p:nvSpPr>
            <p:spPr>
              <a:xfrm>
                <a:off x="8650358" y="4754029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9" name="Strzałka: w dół 18">
                <a:extLst>
                  <a:ext uri="{FF2B5EF4-FFF2-40B4-BE49-F238E27FC236}">
                    <a16:creationId xmlns:a16="http://schemas.microsoft.com/office/drawing/2014/main" id="{A103A027-9844-2B9A-AACA-283CF8467A7F}"/>
                  </a:ext>
                </a:extLst>
              </p:cNvPr>
              <p:cNvSpPr/>
              <p:nvPr/>
            </p:nvSpPr>
            <p:spPr>
              <a:xfrm>
                <a:off x="8650358" y="5539221"/>
                <a:ext cx="216000" cy="252000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81A207AE-9786-69D1-1243-29612ACC6F78}"/>
                </a:ext>
              </a:extLst>
            </p:cNvPr>
            <p:cNvSpPr txBox="1"/>
            <p:nvPr/>
          </p:nvSpPr>
          <p:spPr>
            <a:xfrm>
              <a:off x="7485094" y="1420722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TrimmGalore</a:t>
              </a:r>
              <a:endParaRPr lang="pl-PL" sz="1600" i="1" dirty="0"/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4EB525E1-C6A3-6496-1F34-D45DB4D2909A}"/>
                </a:ext>
              </a:extLst>
            </p:cNvPr>
            <p:cNvSpPr txBox="1"/>
            <p:nvPr/>
          </p:nvSpPr>
          <p:spPr>
            <a:xfrm>
              <a:off x="7485094" y="22471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Bowtie2</a:t>
              </a:r>
              <a:endParaRPr lang="pl-PL" sz="1600" i="1" dirty="0"/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AADF6234-2598-508B-D019-3FC51BE06620}"/>
                </a:ext>
              </a:extLst>
            </p:cNvPr>
            <p:cNvSpPr txBox="1"/>
            <p:nvPr/>
          </p:nvSpPr>
          <p:spPr>
            <a:xfrm>
              <a:off x="7516288" y="3066600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/>
                <a:t>Picard</a:t>
              </a:r>
              <a:endParaRPr lang="pl-PL" sz="1600" i="1" dirty="0"/>
            </a:p>
          </p:txBody>
        </p: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02242522-88E9-436D-666C-7C766654F634}"/>
                </a:ext>
              </a:extLst>
            </p:cNvPr>
            <p:cNvSpPr txBox="1"/>
            <p:nvPr/>
          </p:nvSpPr>
          <p:spPr>
            <a:xfrm>
              <a:off x="7502754" y="3860704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5" name="pole tekstowe 24">
              <a:extLst>
                <a:ext uri="{FF2B5EF4-FFF2-40B4-BE49-F238E27FC236}">
                  <a16:creationId xmlns:a16="http://schemas.microsoft.com/office/drawing/2014/main" id="{3EBCD7D0-5467-FE87-9A70-5F8E91947179}"/>
                </a:ext>
              </a:extLst>
            </p:cNvPr>
            <p:cNvSpPr txBox="1"/>
            <p:nvPr/>
          </p:nvSpPr>
          <p:spPr>
            <a:xfrm>
              <a:off x="7495033" y="4671428"/>
              <a:ext cx="1475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Bedtools</a:t>
              </a:r>
              <a:r>
                <a:rPr lang="en-GB" sz="1600" i="1" dirty="0"/>
                <a:t>/R</a:t>
              </a:r>
              <a:endParaRPr lang="pl-PL" sz="1600" i="1" dirty="0"/>
            </a:p>
          </p:txBody>
        </p:sp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DADBBB7D-15A0-A638-0618-49F25C31F2B2}"/>
                </a:ext>
              </a:extLst>
            </p:cNvPr>
            <p:cNvSpPr txBox="1"/>
            <p:nvPr/>
          </p:nvSpPr>
          <p:spPr>
            <a:xfrm>
              <a:off x="7499725" y="5482152"/>
              <a:ext cx="27077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i="1" dirty="0" err="1"/>
                <a:t>Kentutills</a:t>
              </a:r>
              <a:r>
                <a:rPr lang="en-GB" sz="1600" i="1" dirty="0"/>
                <a:t>/ </a:t>
              </a:r>
              <a:r>
                <a:rPr lang="en-GB" sz="1600" i="1" dirty="0" err="1"/>
                <a:t>bedgraphToBigwig</a:t>
              </a:r>
              <a:endParaRPr lang="pl-PL" sz="1600" i="1" dirty="0"/>
            </a:p>
          </p:txBody>
        </p:sp>
      </p:grpSp>
      <p:grpSp>
        <p:nvGrpSpPr>
          <p:cNvPr id="52" name="Grupa 51">
            <a:extLst>
              <a:ext uri="{FF2B5EF4-FFF2-40B4-BE49-F238E27FC236}">
                <a16:creationId xmlns:a16="http://schemas.microsoft.com/office/drawing/2014/main" id="{34299DB7-3F45-07C2-3C6F-D48D74028D27}"/>
              </a:ext>
            </a:extLst>
          </p:cNvPr>
          <p:cNvGrpSpPr/>
          <p:nvPr/>
        </p:nvGrpSpPr>
        <p:grpSpPr>
          <a:xfrm>
            <a:off x="4130943" y="950562"/>
            <a:ext cx="4829178" cy="2973905"/>
            <a:chOff x="4283759" y="674337"/>
            <a:chExt cx="4829178" cy="2973905"/>
          </a:xfrm>
        </p:grpSpPr>
        <p:sp>
          <p:nvSpPr>
            <p:cNvPr id="30" name="Prostokąt 29">
              <a:extLst>
                <a:ext uri="{FF2B5EF4-FFF2-40B4-BE49-F238E27FC236}">
                  <a16:creationId xmlns:a16="http://schemas.microsoft.com/office/drawing/2014/main" id="{49030979-CA73-8944-0643-3C21DD1C4C82}"/>
                </a:ext>
              </a:extLst>
            </p:cNvPr>
            <p:cNvSpPr/>
            <p:nvPr/>
          </p:nvSpPr>
          <p:spPr>
            <a:xfrm>
              <a:off x="7568646" y="807584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2" name="Prostokąt 31">
              <a:extLst>
                <a:ext uri="{FF2B5EF4-FFF2-40B4-BE49-F238E27FC236}">
                  <a16:creationId xmlns:a16="http://schemas.microsoft.com/office/drawing/2014/main" id="{BAE4A991-1B29-4E44-14FD-1E1FCB6519C3}"/>
                </a:ext>
              </a:extLst>
            </p:cNvPr>
            <p:cNvSpPr/>
            <p:nvPr/>
          </p:nvSpPr>
          <p:spPr>
            <a:xfrm>
              <a:off x="7572375" y="1629242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3" name="Prostokąt 32">
              <a:extLst>
                <a:ext uri="{FF2B5EF4-FFF2-40B4-BE49-F238E27FC236}">
                  <a16:creationId xmlns:a16="http://schemas.microsoft.com/office/drawing/2014/main" id="{B5AD39A6-59DD-4E6F-48CB-3142E648AB21}"/>
                </a:ext>
              </a:extLst>
            </p:cNvPr>
            <p:cNvSpPr/>
            <p:nvPr/>
          </p:nvSpPr>
          <p:spPr>
            <a:xfrm>
              <a:off x="7572375" y="2454537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FFF8A3C9-FA4D-903E-2341-57725E7AD9C8}"/>
                </a:ext>
              </a:extLst>
            </p:cNvPr>
            <p:cNvSpPr/>
            <p:nvPr/>
          </p:nvSpPr>
          <p:spPr>
            <a:xfrm>
              <a:off x="7568646" y="3278910"/>
              <a:ext cx="154056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QC report</a:t>
              </a:r>
              <a:endParaRPr lang="pl-PL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Grupa 39">
              <a:extLst>
                <a:ext uri="{FF2B5EF4-FFF2-40B4-BE49-F238E27FC236}">
                  <a16:creationId xmlns:a16="http://schemas.microsoft.com/office/drawing/2014/main" id="{083B84BA-EC21-D45E-0377-0234916EC286}"/>
                </a:ext>
              </a:extLst>
            </p:cNvPr>
            <p:cNvGrpSpPr/>
            <p:nvPr/>
          </p:nvGrpSpPr>
          <p:grpSpPr>
            <a:xfrm>
              <a:off x="4283759" y="674337"/>
              <a:ext cx="3140770" cy="338554"/>
              <a:chOff x="4174430" y="674337"/>
              <a:chExt cx="3140770" cy="338554"/>
            </a:xfrm>
          </p:grpSpPr>
          <p:cxnSp>
            <p:nvCxnSpPr>
              <p:cNvPr id="29" name="Łącznik prosty ze strzałką 28">
                <a:extLst>
                  <a:ext uri="{FF2B5EF4-FFF2-40B4-BE49-F238E27FC236}">
                    <a16:creationId xmlns:a16="http://schemas.microsoft.com/office/drawing/2014/main" id="{1A13E44F-C4A4-31B2-22A6-8BA6B1F86D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4430" y="992250"/>
                <a:ext cx="3140770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pole tekstowe 38">
                <a:extLst>
                  <a:ext uri="{FF2B5EF4-FFF2-40B4-BE49-F238E27FC236}">
                    <a16:creationId xmlns:a16="http://schemas.microsoft.com/office/drawing/2014/main" id="{7731AEBC-8947-455C-90AC-73125459F234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1" name="Grupa 40">
              <a:extLst>
                <a:ext uri="{FF2B5EF4-FFF2-40B4-BE49-F238E27FC236}">
                  <a16:creationId xmlns:a16="http://schemas.microsoft.com/office/drawing/2014/main" id="{CB52CCE2-41B4-B105-1F22-C67E2B17CDD3}"/>
                </a:ext>
              </a:extLst>
            </p:cNvPr>
            <p:cNvGrpSpPr/>
            <p:nvPr/>
          </p:nvGrpSpPr>
          <p:grpSpPr>
            <a:xfrm>
              <a:off x="4432852" y="1500719"/>
              <a:ext cx="3010935" cy="338554"/>
              <a:chOff x="4304265" y="674337"/>
              <a:chExt cx="3010935" cy="338554"/>
            </a:xfrm>
          </p:grpSpPr>
          <p:cxnSp>
            <p:nvCxnSpPr>
              <p:cNvPr id="42" name="Łącznik prosty ze strzałką 41">
                <a:extLst>
                  <a:ext uri="{FF2B5EF4-FFF2-40B4-BE49-F238E27FC236}">
                    <a16:creationId xmlns:a16="http://schemas.microsoft.com/office/drawing/2014/main" id="{0F915570-8B98-91FB-97F1-4C26D5E14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4265" y="978118"/>
                <a:ext cx="3010935" cy="1413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pole tekstowe 42">
                <a:extLst>
                  <a:ext uri="{FF2B5EF4-FFF2-40B4-BE49-F238E27FC236}">
                    <a16:creationId xmlns:a16="http://schemas.microsoft.com/office/drawing/2014/main" id="{E109C3F3-5362-E18E-10E9-3149188829B9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8CAA4991-4422-0E02-7FB5-E7214FF2F5A8}"/>
                </a:ext>
              </a:extLst>
            </p:cNvPr>
            <p:cNvGrpSpPr/>
            <p:nvPr/>
          </p:nvGrpSpPr>
          <p:grpSpPr>
            <a:xfrm>
              <a:off x="4879831" y="2388429"/>
              <a:ext cx="2535458" cy="338554"/>
              <a:chOff x="4779742" y="674337"/>
              <a:chExt cx="2535458" cy="338554"/>
            </a:xfrm>
          </p:grpSpPr>
          <p:cxnSp>
            <p:nvCxnSpPr>
              <p:cNvPr id="46" name="Łącznik prosty ze strzałką 45">
                <a:extLst>
                  <a:ext uri="{FF2B5EF4-FFF2-40B4-BE49-F238E27FC236}">
                    <a16:creationId xmlns:a16="http://schemas.microsoft.com/office/drawing/2014/main" id="{72EEE56B-0770-FC01-1213-CAF1AC954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pole tekstowe 46">
                <a:extLst>
                  <a:ext uri="{FF2B5EF4-FFF2-40B4-BE49-F238E27FC236}">
                    <a16:creationId xmlns:a16="http://schemas.microsoft.com/office/drawing/2014/main" id="{52331EE7-B7FD-EA15-4474-A000EF91FA08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10A74E97-84E6-4C31-A53F-84C520CD2C44}"/>
                </a:ext>
              </a:extLst>
            </p:cNvPr>
            <p:cNvGrpSpPr/>
            <p:nvPr/>
          </p:nvGrpSpPr>
          <p:grpSpPr>
            <a:xfrm>
              <a:off x="4883146" y="3166992"/>
              <a:ext cx="2535458" cy="338554"/>
              <a:chOff x="4779742" y="674337"/>
              <a:chExt cx="2535458" cy="338554"/>
            </a:xfrm>
          </p:grpSpPr>
          <p:cxnSp>
            <p:nvCxnSpPr>
              <p:cNvPr id="50" name="Łącznik prosty ze strzałką 49">
                <a:extLst>
                  <a:ext uri="{FF2B5EF4-FFF2-40B4-BE49-F238E27FC236}">
                    <a16:creationId xmlns:a16="http://schemas.microsoft.com/office/drawing/2014/main" id="{3E675808-4559-E374-0422-B255034592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742" y="968235"/>
                <a:ext cx="2535458" cy="2401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pole tekstowe 50">
                <a:extLst>
                  <a:ext uri="{FF2B5EF4-FFF2-40B4-BE49-F238E27FC236}">
                    <a16:creationId xmlns:a16="http://schemas.microsoft.com/office/drawing/2014/main" id="{F2A090DC-190B-9766-EE64-42CCFA308262}"/>
                  </a:ext>
                </a:extLst>
              </p:cNvPr>
              <p:cNvSpPr txBox="1"/>
              <p:nvPr/>
            </p:nvSpPr>
            <p:spPr>
              <a:xfrm>
                <a:off x="5241877" y="674337"/>
                <a:ext cx="9462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 err="1"/>
                  <a:t>multiQC</a:t>
                </a:r>
                <a:endParaRPr lang="pl-PL" sz="1600" i="1" dirty="0"/>
              </a:p>
            </p:txBody>
          </p:sp>
        </p:grpSp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EA9227E3-D590-50F8-1678-B9F483A09423}"/>
              </a:ext>
            </a:extLst>
          </p:cNvPr>
          <p:cNvGrpSpPr/>
          <p:nvPr/>
        </p:nvGrpSpPr>
        <p:grpSpPr>
          <a:xfrm>
            <a:off x="9341129" y="1031597"/>
            <a:ext cx="2427371" cy="5488472"/>
            <a:chOff x="8798204" y="755372"/>
            <a:chExt cx="2427371" cy="5488472"/>
          </a:xfrm>
        </p:grpSpPr>
        <p:sp>
          <p:nvSpPr>
            <p:cNvPr id="53" name="Nawias klamrowy zamykający 52">
              <a:extLst>
                <a:ext uri="{FF2B5EF4-FFF2-40B4-BE49-F238E27FC236}">
                  <a16:creationId xmlns:a16="http://schemas.microsoft.com/office/drawing/2014/main" id="{36C7985E-C2DA-C6E2-689F-5E3120D659A2}"/>
                </a:ext>
              </a:extLst>
            </p:cNvPr>
            <p:cNvSpPr/>
            <p:nvPr/>
          </p:nvSpPr>
          <p:spPr>
            <a:xfrm>
              <a:off x="8798204" y="755372"/>
              <a:ext cx="345798" cy="5488472"/>
            </a:xfrm>
            <a:prstGeom prst="rightBrace">
              <a:avLst>
                <a:gd name="adj1" fmla="val 8333"/>
                <a:gd name="adj2" fmla="val 50342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54" name="Prostokąt 53">
              <a:extLst>
                <a:ext uri="{FF2B5EF4-FFF2-40B4-BE49-F238E27FC236}">
                  <a16:creationId xmlns:a16="http://schemas.microsoft.com/office/drawing/2014/main" id="{6CC97694-372A-0CEC-4242-E03ED54F783D}"/>
                </a:ext>
              </a:extLst>
            </p:cNvPr>
            <p:cNvSpPr/>
            <p:nvPr/>
          </p:nvSpPr>
          <p:spPr>
            <a:xfrm>
              <a:off x="9417389" y="3276224"/>
              <a:ext cx="1808186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FINAL REPORT</a:t>
              </a:r>
              <a:endParaRPr lang="pl-PL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33356CB5-CCCF-95F2-A850-BD8FD64FF4B0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6119F28A-87E8-AA35-38C4-49AA4E0B5FE1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/>
              <a:t>DNAfastqBigWig_human_main_v5_30aug2025.sh</a:t>
            </a:r>
            <a:r>
              <a:rPr lang="pl-PL" sz="2200" b="1" dirty="0"/>
              <a:t> </a:t>
            </a:r>
            <a:r>
              <a:rPr lang="pl-PL" sz="2200" b="1" dirty="0" err="1"/>
              <a:t>workflow</a:t>
            </a:r>
            <a:endParaRPr lang="pl-PL" sz="2200" b="1" dirty="0"/>
          </a:p>
        </p:txBody>
      </p:sp>
    </p:spTree>
    <p:extLst>
      <p:ext uri="{BB962C8B-B14F-4D97-AF65-F5344CB8AC3E}">
        <p14:creationId xmlns:p14="http://schemas.microsoft.com/office/powerpoint/2010/main" val="687478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1100-624C-5FB9-43E1-AA535BD5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70074E41-770C-C7F0-2B33-24BBF23B8C44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DC48EFD-854C-106A-3781-2AB76FB53EF9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GB" sz="2200" b="1" dirty="0" err="1"/>
              <a:t>FastQC</a:t>
            </a:r>
            <a:r>
              <a:rPr lang="en-GB" sz="2200" b="1" dirty="0"/>
              <a:t>/</a:t>
            </a:r>
            <a:r>
              <a:rPr lang="en-GB" sz="2200" b="1" dirty="0" err="1"/>
              <a:t>MultiQC</a:t>
            </a:r>
            <a:r>
              <a:rPr lang="en-GB" sz="2200" b="1" dirty="0"/>
              <a:t> – deduplication stats</a:t>
            </a:r>
            <a:endParaRPr lang="pl-PL" sz="2200" b="1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98BF5708-4E53-EF43-276A-73A0922C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749"/>
            <a:ext cx="12192000" cy="463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93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16F7-3549-A807-2114-677B33E8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3297A86E-94D5-0ED2-41C6-2BCC9DC473F0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CB3E5AF-EA95-2F27-CB8F-1F35574B3EC3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</a:t>
            </a:r>
            <a:r>
              <a:rPr lang="pl-PL" sz="2200" b="1" dirty="0"/>
              <a:t>bigwig_summary.txt</a:t>
            </a:r>
          </a:p>
        </p:txBody>
      </p:sp>
      <p:pic>
        <p:nvPicPr>
          <p:cNvPr id="4" name="Obraz 3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962B8642-8332-5AD4-C7F0-A0F9346C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73993"/>
            <a:ext cx="11811000" cy="225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0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FA87-F224-592D-5446-F4EA2E3C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B24B7332-4FE2-F038-F585-42FA169BBB60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0C54F69-A4B9-206B-673B-225A75FE32D2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</a:t>
            </a:r>
            <a:r>
              <a:rPr lang="pl-PL" sz="2200" b="1" dirty="0"/>
              <a:t>ucsc_tracks.txt</a:t>
            </a:r>
          </a:p>
        </p:txBody>
      </p:sp>
      <p:pic>
        <p:nvPicPr>
          <p:cNvPr id="3" name="Obraz 2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185C655-4976-4603-7159-C929D2062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574"/>
            <a:ext cx="12192000" cy="30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98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B522-6012-0542-D44D-26CE7764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E814A33-5861-7D89-EF90-0DCDDB03287F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FB552DE-50FC-2C2A-0A4D-AD27A37AEC2B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4" name="Obraz 3" descr="Obraz zawierający tekst, oprogramowanie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BF980D44-129B-5518-2340-B0E67861A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3" y="1154570"/>
            <a:ext cx="8860806" cy="35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64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BF5F-1C72-D3B1-C95F-D3237292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7D8507B6-4B01-9400-378E-6BBEC2CA5883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D9C41A9-7B33-271A-83B4-065722E65192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3" name="Obraz 2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E8D68D7-4FC1-6FE8-A433-D72E84E3B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49" y="1371029"/>
            <a:ext cx="7953375" cy="475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68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7DF6-2B99-3362-92AA-BF0D105F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E945C1C-727E-8F12-EA50-B704D519835F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464A57A-0BEB-06CA-1ECE-048F3C680DA3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3" name="Obraz 2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F82825BC-0F1E-6F3A-DECD-E73AD3AA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49" y="1371029"/>
            <a:ext cx="7953375" cy="475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8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0D8F-8D4D-A472-1DE3-1A9A5DC7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2C83530-6105-2997-D492-B3A56DECC150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2A9B311-DB9E-0B3B-C2DF-4AB4DAB70E8D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6" name="Obraz 5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027A8BCD-318A-F43A-E8F7-62A9C79F3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" y="1154571"/>
            <a:ext cx="9839325" cy="508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24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F7AB2-A979-4AAC-26F4-171B972A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6D2EA0E-BAF5-9E8A-E07B-8CA256F0B06D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1393234-8FF6-6A27-4AAC-B1259483974F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3" name="Obraz 2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0ABE08F0-C428-1CE8-A5CC-DB330599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933101"/>
            <a:ext cx="11021963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74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3CB9-A545-4F35-B249-33EF15422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6F3B52A7-B916-4436-C9A8-DE03ACD5F67D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DAD1EAF-EF04-76F3-AC46-C9FB986CA88F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4" name="Obraz 3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E672F08A-594C-5A0D-E38C-EDD2CE279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111"/>
          <a:stretch>
            <a:fillRect/>
          </a:stretch>
        </p:blipFill>
        <p:spPr>
          <a:xfrm>
            <a:off x="693422" y="1752600"/>
            <a:ext cx="6233160" cy="3352799"/>
          </a:xfrm>
          <a:prstGeom prst="rect">
            <a:avLst/>
          </a:prstGeom>
        </p:spPr>
      </p:pic>
      <p:pic>
        <p:nvPicPr>
          <p:cNvPr id="6" name="Obraz 5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BC576889-42F4-2D99-3C62-5F063E5F2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18" t="49228" r="15953"/>
          <a:stretch>
            <a:fillRect/>
          </a:stretch>
        </p:blipFill>
        <p:spPr>
          <a:xfrm>
            <a:off x="8381999" y="1655961"/>
            <a:ext cx="3267076" cy="361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272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03ED-92C2-2358-00A5-CA948C77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F71D5D42-6E1D-C2F1-7333-796FF78CF91C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9BBA661-60FF-E927-EF79-9BF84ECF91A9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3" name="Obraz 2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79E92D19-FE8D-A62D-532E-D5B470A51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49" y="1136648"/>
            <a:ext cx="9749617" cy="536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63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3E4D-B678-FC28-37A1-75FC8894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F4F22A47-B376-7A38-7E79-2546E25A61D6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65407A9-F279-984C-6685-FCBED4567513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6" name="Obraz 5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D4D346D9-4D46-133B-2B71-39B1B556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154571"/>
            <a:ext cx="8302964" cy="552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81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C268-6DC1-4844-1EB4-7DAB3F1E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EF7D2542-CC43-B15A-F54F-B031E78AF6E2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310FEE7-9C6D-C4B2-05AE-8BB8FD9CAB46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3" name="Obraz 2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0AE8CA90-BCA9-475A-36BE-E32ABD622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36" y="1618997"/>
            <a:ext cx="862132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15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6C08-3184-5363-9BC1-A5CDBDD6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7E4B27B1-40C8-506D-DA11-6C894D364FDF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1859C77-5A80-EAB6-8637-FCC5EEB79747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html pipeline report</a:t>
            </a:r>
            <a:endParaRPr lang="pl-PL" sz="2200" b="1" dirty="0"/>
          </a:p>
        </p:txBody>
      </p:sp>
      <p:pic>
        <p:nvPicPr>
          <p:cNvPr id="4" name="Obraz 3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73E81B82-538C-0A27-E48E-5DB628DDB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49" y="1286365"/>
            <a:ext cx="8978087" cy="508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911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8028-941D-82EC-BACC-CC5690F8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7653707-3AA1-C9CA-08EA-B471BE0F249C}"/>
              </a:ext>
            </a:extLst>
          </p:cNvPr>
          <p:cNvCxnSpPr/>
          <p:nvPr/>
        </p:nvCxnSpPr>
        <p:spPr>
          <a:xfrm>
            <a:off x="0" y="914398"/>
            <a:ext cx="1219199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166F322-45B4-A498-9D67-215630796E4F}"/>
              </a:ext>
            </a:extLst>
          </p:cNvPr>
          <p:cNvSpPr txBox="1"/>
          <p:nvPr/>
        </p:nvSpPr>
        <p:spPr>
          <a:xfrm>
            <a:off x="0" y="89451"/>
            <a:ext cx="12191999" cy="5847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 </a:t>
            </a:r>
          </a:p>
          <a:p>
            <a:pPr algn="ctr"/>
            <a:r>
              <a:rPr lang="en-US" sz="2200" b="1" dirty="0"/>
              <a:t>Reports/summaries: </a:t>
            </a:r>
            <a:r>
              <a:rPr lang="en-US" sz="2200" b="1" dirty="0" err="1"/>
              <a:t>RPubs</a:t>
            </a:r>
            <a:endParaRPr lang="pl-PL" sz="2200" b="1" dirty="0"/>
          </a:p>
        </p:txBody>
      </p:sp>
      <p:pic>
        <p:nvPicPr>
          <p:cNvPr id="3" name="Obraz 2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C5E039B7-F7E8-547B-B3E5-A83C6BB2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6" y="1154571"/>
            <a:ext cx="8160016" cy="4903329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41A95A8D-EC6A-B0AA-86C2-74EF076DAF09}"/>
              </a:ext>
            </a:extLst>
          </p:cNvPr>
          <p:cNvSpPr txBox="1"/>
          <p:nvPr/>
        </p:nvSpPr>
        <p:spPr>
          <a:xfrm>
            <a:off x="2288381" y="6399217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3"/>
              </a:rPr>
              <a:t>RPubs</a:t>
            </a:r>
            <a:r>
              <a:rPr lang="en-GB" dirty="0">
                <a:hlinkClick r:id="rId3"/>
              </a:rPr>
              <a:t> - DNAseq_report_4thrun_13jan2026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74010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18829</TotalTime>
  <Words>1656</Words>
  <Application>Microsoft Office PowerPoint</Application>
  <PresentationFormat>Panoramiczny</PresentationFormat>
  <Paragraphs>294</Paragraphs>
  <Slides>47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Gdula</dc:creator>
  <cp:lastModifiedBy>Michał Gdula</cp:lastModifiedBy>
  <cp:revision>51</cp:revision>
  <cp:lastPrinted>2026-01-11T18:53:22Z</cp:lastPrinted>
  <dcterms:created xsi:type="dcterms:W3CDTF">2025-11-17T13:16:59Z</dcterms:created>
  <dcterms:modified xsi:type="dcterms:W3CDTF">2026-04-10T04:44:01Z</dcterms:modified>
</cp:coreProperties>
</file>